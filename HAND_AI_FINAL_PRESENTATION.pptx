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83" r:id="rId1"/>
  </p:sldMasterIdLst>
  <p:notesMasterIdLst>
    <p:notesMasterId r:id="rId28"/>
  </p:notesMasterIdLst>
  <p:sldIdLst>
    <p:sldId id="837" r:id="rId15"/>
    <p:sldId id="838" r:id="rId14"/>
    <p:sldId id="839" r:id="rId13"/>
    <p:sldId id="840" r:id="rId12"/>
    <p:sldId id="841" r:id="rId11"/>
    <p:sldId id="842" r:id="rId10"/>
    <p:sldId id="843" r:id="rId9"/>
    <p:sldId id="844" r:id="rId8"/>
    <p:sldId id="845" r:id="rId7"/>
    <p:sldId id="846" r:id="rId6"/>
    <p:sldId id="847" r:id="rId5"/>
    <p:sldId id="848" r:id="rId4"/>
    <p:sldId id="849" r:id="rId3"/>
    <p:sldId id="850" r:id="rId2"/>
  </p:sldIdLst>
  <p:sldSz cx="9902825" cy="6858000"/>
  <p:notesSz cx="6858000" cy="9144000"/>
  <p:embeddedFontLst>
    <p:embeddedFont>
      <p:font typeface="Malgun Gothic" panose="020B0503020000020004" pitchFamily="34" charset="-127"/>
      <p:regular r:id="rId29"/>
      <p:bold r:id="rId30"/>
    </p:embeddedFont>
    <p:embeddedFont>
      <p:font typeface="Malgun Gothic" panose="020B0503020000020004" pitchFamily="34" charset="-127"/>
      <p:regular r:id="rId29"/>
      <p:bold r:id="rId30"/>
    </p:embeddedFont>
    <p:embeddedFont>
      <p:font typeface="Samsung Sharp Sans" panose="020B0604020202020204" charset="0"/>
      <p:bold r:id="rId31"/>
    </p:embeddedFont>
    <p:embeddedFont>
      <p:font typeface="SamsungOne 400" panose="020B0503030303020204" charset="0"/>
      <p:regular r:id="rId32"/>
    </p:embeddedFont>
    <p:embeddedFont>
      <p:font typeface="SamsungOne 400C" panose="020B0506030303020204" charset="0"/>
      <p:regular r:id="rId3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57D1CD4-DEF7-40F5-BDFE-1F5A1F7E6BA3}">
          <p14:sldIdLst>
            <p14:sldId id="790"/>
            <p14:sldId id="791"/>
            <p14:sldId id="792"/>
            <p14:sldId id="794"/>
            <p14:sldId id="796"/>
            <p14:sldId id="819"/>
            <p14:sldId id="798"/>
            <p14:sldId id="799"/>
            <p14:sldId id="801"/>
            <p14:sldId id="803"/>
            <p14:sldId id="820"/>
            <p14:sldId id="821"/>
            <p14:sldId id="804"/>
            <p14:sldId id="822"/>
            <p14:sldId id="823"/>
            <p14:sldId id="824"/>
            <p14:sldId id="805"/>
            <p14:sldId id="825"/>
            <p14:sldId id="806"/>
            <p14:sldId id="809"/>
            <p14:sldId id="818"/>
            <p14:sldId id="811"/>
            <p14:sldId id="813"/>
            <p14:sldId id="815"/>
            <p14:sldId id="817"/>
            <p14:sldId id="807"/>
          </p14:sldIdLst>
        </p14:section>
      </p14:sectionLst>
    </p:ext>
    <p:ext uri="{EFAFB233-063F-42B5-8137-9DF3F51BA10A}">
      <p15:sldGuideLst xmlns:p15="http://schemas.microsoft.com/office/powerpoint/2012/main">
        <p15:guide id="1" pos="3119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93EB0"/>
    <a:srgbClr val="FFB546"/>
    <a:srgbClr val="FF4337"/>
    <a:srgbClr val="00B3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583" autoAdjust="0"/>
    <p:restoredTop sz="72205" autoAdjust="0"/>
  </p:normalViewPr>
  <p:slideViewPr>
    <p:cSldViewPr snapToGrid="0">
      <p:cViewPr varScale="1">
        <p:scale>
          <a:sx n="82" d="100"/>
          <a:sy n="82" d="100"/>
        </p:scale>
        <p:origin x="1282" y="72"/>
      </p:cViewPr>
      <p:guideLst>
        <p:guide pos="3119"/>
        <p:guide orient="horz" pos="2160"/>
      </p:guideLst>
    </p:cSldViewPr>
  </p:slideViewPr>
  <p:notesTextViewPr>
    <p:cViewPr>
      <p:scale>
        <a:sx n="125" d="100"/>
        <a:sy n="125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28.xml"/><Relationship Id="rId3" Type="http://schemas.openxmlformats.org/officeDocument/2006/relationships/slide" Target="slides/slide27.xml"/><Relationship Id="rId4" Type="http://schemas.openxmlformats.org/officeDocument/2006/relationships/slide" Target="slides/slide26.xml"/><Relationship Id="rId5" Type="http://schemas.openxmlformats.org/officeDocument/2006/relationships/slide" Target="slides/slide25.xml"/><Relationship Id="rId6" Type="http://schemas.openxmlformats.org/officeDocument/2006/relationships/slide" Target="slides/slide24.xml"/><Relationship Id="rId7" Type="http://schemas.openxmlformats.org/officeDocument/2006/relationships/slide" Target="slides/slide23.xml"/><Relationship Id="rId8" Type="http://schemas.openxmlformats.org/officeDocument/2006/relationships/slide" Target="slides/slide22.xml"/><Relationship Id="rId9" Type="http://schemas.openxmlformats.org/officeDocument/2006/relationships/slide" Target="slides/slide21.xml"/><Relationship Id="rId10" Type="http://schemas.openxmlformats.org/officeDocument/2006/relationships/slide" Target="slides/slide20.xml"/><Relationship Id="rId11" Type="http://schemas.openxmlformats.org/officeDocument/2006/relationships/slide" Target="slides/slide19.xml"/><Relationship Id="rId12" Type="http://schemas.openxmlformats.org/officeDocument/2006/relationships/slide" Target="slides/slide18.xml"/><Relationship Id="rId13" Type="http://schemas.openxmlformats.org/officeDocument/2006/relationships/slide" Target="slides/slide17.xml"/><Relationship Id="rId14" Type="http://schemas.openxmlformats.org/officeDocument/2006/relationships/slide" Target="slides/slide16.xml"/><Relationship Id="rId15" Type="http://schemas.openxmlformats.org/officeDocument/2006/relationships/slide" Target="slides/slide15.xml"/><Relationship Id="rId28" Type="http://schemas.openxmlformats.org/officeDocument/2006/relationships/notesMaster" Target="notesMasters/notesMaster1.xml"/><Relationship Id="rId29" Type="http://schemas.openxmlformats.org/officeDocument/2006/relationships/font" Target="fonts/font1.fntdata"/><Relationship Id="rId30" Type="http://schemas.openxmlformats.org/officeDocument/2006/relationships/font" Target="fonts/font2.fntdata"/><Relationship Id="rId31" Type="http://schemas.openxmlformats.org/officeDocument/2006/relationships/font" Target="fonts/font3.fntdata"/><Relationship Id="rId32" Type="http://schemas.openxmlformats.org/officeDocument/2006/relationships/font" Target="fonts/font4.fntdata"/><Relationship Id="rId33" Type="http://schemas.openxmlformats.org/officeDocument/2006/relationships/font" Target="fonts/font5.fntdata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B57C17-E6FD-4AF5-A787-31E9CCE99A85}" type="datetimeFigureOut">
              <a:rPr lang="ko-KR" altLang="en-US" smtClean="0"/>
              <a:t>2024-08-22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59C55F-00F1-4985-9065-F2D92AE05D0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912534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Relationship Id="rId3" Type="http://schemas.openxmlformats.org/officeDocument/2006/relationships/image" Target="../media/image10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g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107951CE-0A5B-4EC7-B663-290867B6A3B2}"/>
              </a:ext>
            </a:extLst>
          </p:cNvPr>
          <p:cNvCxnSpPr/>
          <p:nvPr userDrawn="1"/>
        </p:nvCxnSpPr>
        <p:spPr>
          <a:xfrm>
            <a:off x="449468" y="6424935"/>
            <a:ext cx="900071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슬라이드 번호 개체 틀 15">
            <a:extLst>
              <a:ext uri="{FF2B5EF4-FFF2-40B4-BE49-F238E27FC236}">
                <a16:creationId xmlns:a16="http://schemas.microsoft.com/office/drawing/2014/main" id="{DB8B1220-1660-457F-B990-656A8230EA54}"/>
              </a:ext>
            </a:extLst>
          </p:cNvPr>
          <p:cNvSpPr txBox="1">
            <a:spLocks/>
          </p:cNvSpPr>
          <p:nvPr userDrawn="1"/>
        </p:nvSpPr>
        <p:spPr>
          <a:xfrm>
            <a:off x="8836343" y="6498001"/>
            <a:ext cx="613839" cy="1384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defPPr>
              <a:defRPr lang="ko-KR"/>
            </a:defPPr>
            <a:lvl1pPr algn="r"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SamsungOne 300" panose="020B0303030303020204" pitchFamily="34" charset="0"/>
                <a:ea typeface="SamsungOne 300" panose="020B0303030303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r" defTabSz="91409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3977B04-C971-4466-AB79-612C9E649B30}" type="slidenum">
              <a:rPr lang="en-US" altLang="ko-KR" sz="900" smtClean="0">
                <a:solidFill>
                  <a:schemeClr val="bg1">
                    <a:lumMod val="50000"/>
                  </a:schemeClr>
                </a:solidFill>
                <a:latin typeface="SamsungOne 400" panose="020B0503030303020204" pitchFamily="34" charset="0"/>
                <a:ea typeface="SamsungOne 400" panose="020B0503030303020204" pitchFamily="34" charset="0"/>
              </a:rPr>
              <a:pPr marL="0" marR="0" lvl="0" indent="0" algn="r" defTabSz="914094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SamsungOne 400" panose="020B0503030303020204" pitchFamily="34" charset="0"/>
              <a:ea typeface="SamsungOne 400" panose="020B0503030303020204" pitchFamily="34" charset="0"/>
              <a:cs typeface="Arial Unicode MS" panose="020B0604020202020204" pitchFamily="50" charset="-127"/>
            </a:endParaRPr>
          </a:p>
        </p:txBody>
      </p:sp>
      <p:sp>
        <p:nvSpPr>
          <p:cNvPr id="14" name="직사각형 7">
            <a:extLst>
              <a:ext uri="{FF2B5EF4-FFF2-40B4-BE49-F238E27FC236}">
                <a16:creationId xmlns:a16="http://schemas.microsoft.com/office/drawing/2014/main" id="{AA07D337-B9C3-4E5E-811E-AEFBB17ADEF5}"/>
              </a:ext>
            </a:extLst>
          </p:cNvPr>
          <p:cNvSpPr/>
          <p:nvPr userDrawn="1"/>
        </p:nvSpPr>
        <p:spPr>
          <a:xfrm>
            <a:off x="449468" y="6498001"/>
            <a:ext cx="2888788" cy="1692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/>
          <a:p>
            <a:pPr algn="l"/>
            <a:r>
              <a:rPr lang="en-US" altLang="ko-KR" sz="1100" b="0" dirty="0">
                <a:solidFill>
                  <a:schemeClr val="bg1">
                    <a:lumMod val="50000"/>
                  </a:schemeClr>
                </a:solidFill>
                <a:latin typeface="Samsung Sharp Sans Bold" pitchFamily="2" charset="0"/>
                <a:ea typeface="Samsung Sharp Sans Bold" pitchFamily="2" charset="0"/>
                <a:cs typeface="Samsung Sharp Sans Bold" pitchFamily="2" charset="0"/>
              </a:rPr>
              <a:t>Samsung Innovation Campus</a:t>
            </a:r>
          </a:p>
        </p:txBody>
      </p:sp>
      <p:sp>
        <p:nvSpPr>
          <p:cNvPr id="15" name="슬라이드 번호 개체 틀 15">
            <a:extLst>
              <a:ext uri="{FF2B5EF4-FFF2-40B4-BE49-F238E27FC236}">
                <a16:creationId xmlns:a16="http://schemas.microsoft.com/office/drawing/2014/main" id="{CCEC8F59-794B-4743-A6D7-1BC9720006CB}"/>
              </a:ext>
            </a:extLst>
          </p:cNvPr>
          <p:cNvSpPr txBox="1">
            <a:spLocks/>
          </p:cNvSpPr>
          <p:nvPr userDrawn="1"/>
        </p:nvSpPr>
        <p:spPr>
          <a:xfrm>
            <a:off x="6846858" y="6498001"/>
            <a:ext cx="2349501" cy="1384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defPPr>
              <a:defRPr lang="ko-KR"/>
            </a:defPPr>
            <a:lvl1pPr algn="r"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SamsungOne 300" panose="020B0303030303020204" pitchFamily="34" charset="0"/>
                <a:ea typeface="SamsungOne 300" panose="020B0303030303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 defTabSz="914094" latinLnBrk="1">
              <a:defRPr/>
            </a:pP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Samsung Sharp Sans Medium" pitchFamily="2" charset="0"/>
                <a:ea typeface="Samsung Sharp Sans Medium" pitchFamily="2" charset="0"/>
                <a:cs typeface="Samsung Sharp Sans Medium" pitchFamily="2" charset="0"/>
              </a:rPr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39566679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285">
          <p15:clr>
            <a:srgbClr val="FBAE40"/>
          </p15:clr>
        </p15:guide>
        <p15:guide id="3" pos="5955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 Cover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2825" cy="6858000"/>
          </a:xfrm>
          <a:prstGeom prst="rect">
            <a:avLst/>
          </a:prstGeom>
        </p:spPr>
      </p:pic>
      <p:sp>
        <p:nvSpPr>
          <p:cNvPr id="6" name="Freeform 5">
            <a:extLst>
              <a:ext uri="{FF2B5EF4-FFF2-40B4-BE49-F238E27FC236}">
                <a16:creationId xmlns:a16="http://schemas.microsoft.com/office/drawing/2014/main" id="{0D8AEED9-5E8F-4A4F-8427-AE314BEC60F8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449468" y="450000"/>
            <a:ext cx="1282022" cy="198000"/>
          </a:xfrm>
          <a:custGeom>
            <a:avLst/>
            <a:gdLst>
              <a:gd name="T0" fmla="*/ 82 w 2179"/>
              <a:gd name="T1" fmla="*/ 74 h 334"/>
              <a:gd name="T2" fmla="*/ 140 w 2179"/>
              <a:gd name="T3" fmla="*/ 82 h 334"/>
              <a:gd name="T4" fmla="*/ 218 w 2179"/>
              <a:gd name="T5" fmla="*/ 101 h 334"/>
              <a:gd name="T6" fmla="*/ 112 w 2179"/>
              <a:gd name="T7" fmla="*/ 0 h 334"/>
              <a:gd name="T8" fmla="*/ 4 w 2179"/>
              <a:gd name="T9" fmla="*/ 112 h 334"/>
              <a:gd name="T10" fmla="*/ 145 w 2179"/>
              <a:gd name="T11" fmla="*/ 257 h 334"/>
              <a:gd name="T12" fmla="*/ 84 w 2179"/>
              <a:gd name="T13" fmla="*/ 250 h 334"/>
              <a:gd name="T14" fmla="*/ 0 w 2179"/>
              <a:gd name="T15" fmla="*/ 220 h 334"/>
              <a:gd name="T16" fmla="*/ 113 w 2179"/>
              <a:gd name="T17" fmla="*/ 334 h 334"/>
              <a:gd name="T18" fmla="*/ 223 w 2179"/>
              <a:gd name="T19" fmla="*/ 212 h 334"/>
              <a:gd name="T20" fmla="*/ 1096 w 2179"/>
              <a:gd name="T21" fmla="*/ 91 h 334"/>
              <a:gd name="T22" fmla="*/ 1124 w 2179"/>
              <a:gd name="T23" fmla="*/ 54 h 334"/>
              <a:gd name="T24" fmla="*/ 1152 w 2179"/>
              <a:gd name="T25" fmla="*/ 102 h 334"/>
              <a:gd name="T26" fmla="*/ 1229 w 2179"/>
              <a:gd name="T27" fmla="*/ 80 h 334"/>
              <a:gd name="T28" fmla="*/ 1017 w 2179"/>
              <a:gd name="T29" fmla="*/ 71 h 334"/>
              <a:gd name="T30" fmla="*/ 1157 w 2179"/>
              <a:gd name="T31" fmla="*/ 233 h 334"/>
              <a:gd name="T32" fmla="*/ 1128 w 2179"/>
              <a:gd name="T33" fmla="*/ 277 h 334"/>
              <a:gd name="T34" fmla="*/ 1097 w 2179"/>
              <a:gd name="T35" fmla="*/ 219 h 334"/>
              <a:gd name="T36" fmla="*/ 1014 w 2179"/>
              <a:gd name="T37" fmla="*/ 243 h 334"/>
              <a:gd name="T38" fmla="*/ 1235 w 2179"/>
              <a:gd name="T39" fmla="*/ 262 h 334"/>
              <a:gd name="T40" fmla="*/ 1096 w 2179"/>
              <a:gd name="T41" fmla="*/ 91 h 334"/>
              <a:gd name="T42" fmla="*/ 1730 w 2179"/>
              <a:gd name="T43" fmla="*/ 10 h 334"/>
              <a:gd name="T44" fmla="*/ 1614 w 2179"/>
              <a:gd name="T45" fmla="*/ 319 h 334"/>
              <a:gd name="T46" fmla="*/ 1686 w 2179"/>
              <a:gd name="T47" fmla="*/ 60 h 334"/>
              <a:gd name="T48" fmla="*/ 1876 w 2179"/>
              <a:gd name="T49" fmla="*/ 319 h 334"/>
              <a:gd name="T50" fmla="*/ 1799 w 2179"/>
              <a:gd name="T51" fmla="*/ 10 h 334"/>
              <a:gd name="T52" fmla="*/ 333 w 2179"/>
              <a:gd name="T53" fmla="*/ 10 h 334"/>
              <a:gd name="T54" fmla="*/ 360 w 2179"/>
              <a:gd name="T55" fmla="*/ 322 h 334"/>
              <a:gd name="T56" fmla="*/ 446 w 2179"/>
              <a:gd name="T57" fmla="*/ 322 h 334"/>
              <a:gd name="T58" fmla="*/ 472 w 2179"/>
              <a:gd name="T59" fmla="*/ 10 h 334"/>
              <a:gd name="T60" fmla="*/ 804 w 2179"/>
              <a:gd name="T61" fmla="*/ 10 h 334"/>
              <a:gd name="T62" fmla="*/ 725 w 2179"/>
              <a:gd name="T63" fmla="*/ 10 h 334"/>
              <a:gd name="T64" fmla="*/ 592 w 2179"/>
              <a:gd name="T65" fmla="*/ 322 h 334"/>
              <a:gd name="T66" fmla="*/ 671 w 2179"/>
              <a:gd name="T67" fmla="*/ 33 h 334"/>
              <a:gd name="T68" fmla="*/ 804 w 2179"/>
              <a:gd name="T69" fmla="*/ 322 h 334"/>
              <a:gd name="T70" fmla="*/ 860 w 2179"/>
              <a:gd name="T71" fmla="*/ 322 h 334"/>
              <a:gd name="T72" fmla="*/ 931 w 2179"/>
              <a:gd name="T73" fmla="*/ 10 h 334"/>
              <a:gd name="T74" fmla="*/ 1528 w 2179"/>
              <a:gd name="T75" fmla="*/ 10 h 334"/>
              <a:gd name="T76" fmla="*/ 1449 w 2179"/>
              <a:gd name="T77" fmla="*/ 241 h 334"/>
              <a:gd name="T78" fmla="*/ 1418 w 2179"/>
              <a:gd name="T79" fmla="*/ 275 h 334"/>
              <a:gd name="T80" fmla="*/ 1388 w 2179"/>
              <a:gd name="T81" fmla="*/ 241 h 334"/>
              <a:gd name="T82" fmla="*/ 1309 w 2179"/>
              <a:gd name="T83" fmla="*/ 10 h 334"/>
              <a:gd name="T84" fmla="*/ 1310 w 2179"/>
              <a:gd name="T85" fmla="*/ 254 h 334"/>
              <a:gd name="T86" fmla="*/ 1527 w 2179"/>
              <a:gd name="T87" fmla="*/ 254 h 334"/>
              <a:gd name="T88" fmla="*/ 1528 w 2179"/>
              <a:gd name="T89" fmla="*/ 10 h 334"/>
              <a:gd name="T90" fmla="*/ 2069 w 2179"/>
              <a:gd name="T91" fmla="*/ 192 h 334"/>
              <a:gd name="T92" fmla="*/ 2101 w 2179"/>
              <a:gd name="T93" fmla="*/ 237 h 334"/>
              <a:gd name="T94" fmla="*/ 2068 w 2179"/>
              <a:gd name="T95" fmla="*/ 272 h 334"/>
              <a:gd name="T96" fmla="*/ 2035 w 2179"/>
              <a:gd name="T97" fmla="*/ 237 h 334"/>
              <a:gd name="T98" fmla="*/ 2037 w 2179"/>
              <a:gd name="T99" fmla="*/ 80 h 334"/>
              <a:gd name="T100" fmla="*/ 2099 w 2179"/>
              <a:gd name="T101" fmla="*/ 80 h 334"/>
              <a:gd name="T102" fmla="*/ 2100 w 2179"/>
              <a:gd name="T103" fmla="*/ 110 h 334"/>
              <a:gd name="T104" fmla="*/ 2178 w 2179"/>
              <a:gd name="T105" fmla="*/ 99 h 334"/>
              <a:gd name="T106" fmla="*/ 2068 w 2179"/>
              <a:gd name="T107" fmla="*/ 2 h 334"/>
              <a:gd name="T108" fmla="*/ 1958 w 2179"/>
              <a:gd name="T109" fmla="*/ 99 h 334"/>
              <a:gd name="T110" fmla="*/ 1959 w 2179"/>
              <a:gd name="T111" fmla="*/ 251 h 334"/>
              <a:gd name="T112" fmla="*/ 2178 w 2179"/>
              <a:gd name="T113" fmla="*/ 251 h 334"/>
              <a:gd name="T114" fmla="*/ 2179 w 2179"/>
              <a:gd name="T115" fmla="*/ 147 h 3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2179" h="334">
                <a:moveTo>
                  <a:pt x="83" y="91"/>
                </a:moveTo>
                <a:cubicBezTo>
                  <a:pt x="81" y="84"/>
                  <a:pt x="82" y="78"/>
                  <a:pt x="82" y="74"/>
                </a:cubicBezTo>
                <a:cubicBezTo>
                  <a:pt x="84" y="64"/>
                  <a:pt x="91" y="53"/>
                  <a:pt x="111" y="53"/>
                </a:cubicBezTo>
                <a:cubicBezTo>
                  <a:pt x="129" y="53"/>
                  <a:pt x="140" y="65"/>
                  <a:pt x="140" y="82"/>
                </a:cubicBezTo>
                <a:cubicBezTo>
                  <a:pt x="140" y="101"/>
                  <a:pt x="140" y="101"/>
                  <a:pt x="140" y="101"/>
                </a:cubicBezTo>
                <a:cubicBezTo>
                  <a:pt x="218" y="101"/>
                  <a:pt x="218" y="101"/>
                  <a:pt x="218" y="101"/>
                </a:cubicBezTo>
                <a:cubicBezTo>
                  <a:pt x="218" y="79"/>
                  <a:pt x="218" y="79"/>
                  <a:pt x="218" y="79"/>
                </a:cubicBezTo>
                <a:cubicBezTo>
                  <a:pt x="218" y="11"/>
                  <a:pt x="156" y="0"/>
                  <a:pt x="112" y="0"/>
                </a:cubicBezTo>
                <a:cubicBezTo>
                  <a:pt x="57" y="0"/>
                  <a:pt x="12" y="19"/>
                  <a:pt x="4" y="70"/>
                </a:cubicBezTo>
                <a:cubicBezTo>
                  <a:pt x="1" y="84"/>
                  <a:pt x="1" y="96"/>
                  <a:pt x="4" y="112"/>
                </a:cubicBezTo>
                <a:cubicBezTo>
                  <a:pt x="18" y="175"/>
                  <a:pt x="128" y="194"/>
                  <a:pt x="145" y="234"/>
                </a:cubicBezTo>
                <a:cubicBezTo>
                  <a:pt x="148" y="241"/>
                  <a:pt x="147" y="251"/>
                  <a:pt x="145" y="257"/>
                </a:cubicBezTo>
                <a:cubicBezTo>
                  <a:pt x="143" y="267"/>
                  <a:pt x="136" y="278"/>
                  <a:pt x="115" y="278"/>
                </a:cubicBezTo>
                <a:cubicBezTo>
                  <a:pt x="95" y="278"/>
                  <a:pt x="84" y="267"/>
                  <a:pt x="84" y="250"/>
                </a:cubicBezTo>
                <a:cubicBezTo>
                  <a:pt x="83" y="220"/>
                  <a:pt x="83" y="220"/>
                  <a:pt x="83" y="220"/>
                </a:cubicBezTo>
                <a:cubicBezTo>
                  <a:pt x="0" y="220"/>
                  <a:pt x="0" y="220"/>
                  <a:pt x="0" y="220"/>
                </a:cubicBezTo>
                <a:cubicBezTo>
                  <a:pt x="0" y="244"/>
                  <a:pt x="0" y="244"/>
                  <a:pt x="0" y="244"/>
                </a:cubicBezTo>
                <a:cubicBezTo>
                  <a:pt x="0" y="313"/>
                  <a:pt x="55" y="334"/>
                  <a:pt x="113" y="334"/>
                </a:cubicBezTo>
                <a:cubicBezTo>
                  <a:pt x="169" y="334"/>
                  <a:pt x="216" y="315"/>
                  <a:pt x="223" y="263"/>
                </a:cubicBezTo>
                <a:cubicBezTo>
                  <a:pt x="227" y="236"/>
                  <a:pt x="224" y="218"/>
                  <a:pt x="223" y="212"/>
                </a:cubicBezTo>
                <a:cubicBezTo>
                  <a:pt x="210" y="146"/>
                  <a:pt x="92" y="127"/>
                  <a:pt x="83" y="91"/>
                </a:cubicBezTo>
                <a:moveTo>
                  <a:pt x="1096" y="91"/>
                </a:moveTo>
                <a:cubicBezTo>
                  <a:pt x="1094" y="85"/>
                  <a:pt x="1095" y="79"/>
                  <a:pt x="1096" y="75"/>
                </a:cubicBezTo>
                <a:cubicBezTo>
                  <a:pt x="1098" y="65"/>
                  <a:pt x="1104" y="54"/>
                  <a:pt x="1124" y="54"/>
                </a:cubicBezTo>
                <a:cubicBezTo>
                  <a:pt x="1142" y="54"/>
                  <a:pt x="1152" y="66"/>
                  <a:pt x="1152" y="82"/>
                </a:cubicBezTo>
                <a:cubicBezTo>
                  <a:pt x="1152" y="102"/>
                  <a:pt x="1152" y="102"/>
                  <a:pt x="1152" y="102"/>
                </a:cubicBezTo>
                <a:cubicBezTo>
                  <a:pt x="1229" y="102"/>
                  <a:pt x="1229" y="102"/>
                  <a:pt x="1229" y="102"/>
                </a:cubicBezTo>
                <a:cubicBezTo>
                  <a:pt x="1229" y="80"/>
                  <a:pt x="1229" y="80"/>
                  <a:pt x="1229" y="80"/>
                </a:cubicBezTo>
                <a:cubicBezTo>
                  <a:pt x="1229" y="13"/>
                  <a:pt x="1169" y="2"/>
                  <a:pt x="1125" y="2"/>
                </a:cubicBezTo>
                <a:cubicBezTo>
                  <a:pt x="1070" y="2"/>
                  <a:pt x="1026" y="20"/>
                  <a:pt x="1017" y="71"/>
                </a:cubicBezTo>
                <a:cubicBezTo>
                  <a:pt x="1015" y="84"/>
                  <a:pt x="1015" y="97"/>
                  <a:pt x="1018" y="112"/>
                </a:cubicBezTo>
                <a:cubicBezTo>
                  <a:pt x="1032" y="175"/>
                  <a:pt x="1141" y="193"/>
                  <a:pt x="1157" y="233"/>
                </a:cubicBezTo>
                <a:cubicBezTo>
                  <a:pt x="1160" y="241"/>
                  <a:pt x="1159" y="250"/>
                  <a:pt x="1158" y="256"/>
                </a:cubicBezTo>
                <a:cubicBezTo>
                  <a:pt x="1155" y="267"/>
                  <a:pt x="1148" y="277"/>
                  <a:pt x="1128" y="277"/>
                </a:cubicBezTo>
                <a:cubicBezTo>
                  <a:pt x="1108" y="277"/>
                  <a:pt x="1097" y="266"/>
                  <a:pt x="1097" y="249"/>
                </a:cubicBezTo>
                <a:cubicBezTo>
                  <a:pt x="1097" y="219"/>
                  <a:pt x="1097" y="219"/>
                  <a:pt x="1097" y="219"/>
                </a:cubicBezTo>
                <a:cubicBezTo>
                  <a:pt x="1014" y="219"/>
                  <a:pt x="1014" y="219"/>
                  <a:pt x="1014" y="219"/>
                </a:cubicBezTo>
                <a:cubicBezTo>
                  <a:pt x="1014" y="243"/>
                  <a:pt x="1014" y="243"/>
                  <a:pt x="1014" y="243"/>
                </a:cubicBezTo>
                <a:cubicBezTo>
                  <a:pt x="1014" y="312"/>
                  <a:pt x="1068" y="332"/>
                  <a:pt x="1126" y="332"/>
                </a:cubicBezTo>
                <a:cubicBezTo>
                  <a:pt x="1182" y="332"/>
                  <a:pt x="1228" y="313"/>
                  <a:pt x="1235" y="262"/>
                </a:cubicBezTo>
                <a:cubicBezTo>
                  <a:pt x="1238" y="235"/>
                  <a:pt x="1236" y="218"/>
                  <a:pt x="1234" y="211"/>
                </a:cubicBezTo>
                <a:cubicBezTo>
                  <a:pt x="1221" y="147"/>
                  <a:pt x="1105" y="127"/>
                  <a:pt x="1096" y="91"/>
                </a:cubicBezTo>
                <a:moveTo>
                  <a:pt x="1803" y="261"/>
                </a:moveTo>
                <a:cubicBezTo>
                  <a:pt x="1730" y="10"/>
                  <a:pt x="1730" y="10"/>
                  <a:pt x="1730" y="10"/>
                </a:cubicBezTo>
                <a:cubicBezTo>
                  <a:pt x="1614" y="10"/>
                  <a:pt x="1614" y="10"/>
                  <a:pt x="1614" y="10"/>
                </a:cubicBezTo>
                <a:cubicBezTo>
                  <a:pt x="1614" y="319"/>
                  <a:pt x="1614" y="319"/>
                  <a:pt x="1614" y="319"/>
                </a:cubicBezTo>
                <a:cubicBezTo>
                  <a:pt x="1691" y="319"/>
                  <a:pt x="1691" y="319"/>
                  <a:pt x="1691" y="319"/>
                </a:cubicBezTo>
                <a:cubicBezTo>
                  <a:pt x="1686" y="60"/>
                  <a:pt x="1686" y="60"/>
                  <a:pt x="1686" y="60"/>
                </a:cubicBezTo>
                <a:cubicBezTo>
                  <a:pt x="1765" y="319"/>
                  <a:pt x="1765" y="319"/>
                  <a:pt x="1765" y="319"/>
                </a:cubicBezTo>
                <a:cubicBezTo>
                  <a:pt x="1876" y="319"/>
                  <a:pt x="1876" y="319"/>
                  <a:pt x="1876" y="319"/>
                </a:cubicBezTo>
                <a:cubicBezTo>
                  <a:pt x="1876" y="10"/>
                  <a:pt x="1876" y="10"/>
                  <a:pt x="1876" y="10"/>
                </a:cubicBezTo>
                <a:cubicBezTo>
                  <a:pt x="1799" y="10"/>
                  <a:pt x="1799" y="10"/>
                  <a:pt x="1799" y="10"/>
                </a:cubicBezTo>
                <a:lnTo>
                  <a:pt x="1803" y="261"/>
                </a:lnTo>
                <a:close/>
                <a:moveTo>
                  <a:pt x="333" y="10"/>
                </a:moveTo>
                <a:cubicBezTo>
                  <a:pt x="276" y="322"/>
                  <a:pt x="276" y="322"/>
                  <a:pt x="276" y="322"/>
                </a:cubicBezTo>
                <a:cubicBezTo>
                  <a:pt x="360" y="322"/>
                  <a:pt x="360" y="322"/>
                  <a:pt x="360" y="322"/>
                </a:cubicBezTo>
                <a:cubicBezTo>
                  <a:pt x="403" y="33"/>
                  <a:pt x="403" y="33"/>
                  <a:pt x="403" y="33"/>
                </a:cubicBezTo>
                <a:cubicBezTo>
                  <a:pt x="446" y="322"/>
                  <a:pt x="446" y="322"/>
                  <a:pt x="446" y="322"/>
                </a:cubicBezTo>
                <a:cubicBezTo>
                  <a:pt x="529" y="322"/>
                  <a:pt x="529" y="322"/>
                  <a:pt x="529" y="322"/>
                </a:cubicBezTo>
                <a:cubicBezTo>
                  <a:pt x="472" y="10"/>
                  <a:pt x="472" y="10"/>
                  <a:pt x="472" y="10"/>
                </a:cubicBezTo>
                <a:lnTo>
                  <a:pt x="333" y="10"/>
                </a:lnTo>
                <a:close/>
                <a:moveTo>
                  <a:pt x="804" y="10"/>
                </a:moveTo>
                <a:cubicBezTo>
                  <a:pt x="765" y="254"/>
                  <a:pt x="765" y="254"/>
                  <a:pt x="765" y="254"/>
                </a:cubicBezTo>
                <a:cubicBezTo>
                  <a:pt x="725" y="10"/>
                  <a:pt x="725" y="10"/>
                  <a:pt x="725" y="10"/>
                </a:cubicBezTo>
                <a:cubicBezTo>
                  <a:pt x="598" y="10"/>
                  <a:pt x="598" y="10"/>
                  <a:pt x="598" y="10"/>
                </a:cubicBezTo>
                <a:cubicBezTo>
                  <a:pt x="592" y="322"/>
                  <a:pt x="592" y="322"/>
                  <a:pt x="592" y="322"/>
                </a:cubicBezTo>
                <a:cubicBezTo>
                  <a:pt x="669" y="322"/>
                  <a:pt x="669" y="322"/>
                  <a:pt x="669" y="322"/>
                </a:cubicBezTo>
                <a:cubicBezTo>
                  <a:pt x="671" y="33"/>
                  <a:pt x="671" y="33"/>
                  <a:pt x="671" y="33"/>
                </a:cubicBezTo>
                <a:cubicBezTo>
                  <a:pt x="725" y="322"/>
                  <a:pt x="725" y="322"/>
                  <a:pt x="725" y="322"/>
                </a:cubicBezTo>
                <a:cubicBezTo>
                  <a:pt x="804" y="322"/>
                  <a:pt x="804" y="322"/>
                  <a:pt x="804" y="322"/>
                </a:cubicBezTo>
                <a:cubicBezTo>
                  <a:pt x="858" y="33"/>
                  <a:pt x="858" y="33"/>
                  <a:pt x="858" y="33"/>
                </a:cubicBezTo>
                <a:cubicBezTo>
                  <a:pt x="860" y="322"/>
                  <a:pt x="860" y="322"/>
                  <a:pt x="860" y="322"/>
                </a:cubicBezTo>
                <a:cubicBezTo>
                  <a:pt x="938" y="322"/>
                  <a:pt x="938" y="322"/>
                  <a:pt x="938" y="322"/>
                </a:cubicBezTo>
                <a:cubicBezTo>
                  <a:pt x="931" y="10"/>
                  <a:pt x="931" y="10"/>
                  <a:pt x="931" y="10"/>
                </a:cubicBezTo>
                <a:lnTo>
                  <a:pt x="804" y="10"/>
                </a:lnTo>
                <a:close/>
                <a:moveTo>
                  <a:pt x="1528" y="10"/>
                </a:moveTo>
                <a:cubicBezTo>
                  <a:pt x="1449" y="10"/>
                  <a:pt x="1449" y="10"/>
                  <a:pt x="1449" y="10"/>
                </a:cubicBezTo>
                <a:cubicBezTo>
                  <a:pt x="1449" y="241"/>
                  <a:pt x="1449" y="241"/>
                  <a:pt x="1449" y="241"/>
                </a:cubicBezTo>
                <a:cubicBezTo>
                  <a:pt x="1449" y="245"/>
                  <a:pt x="1449" y="249"/>
                  <a:pt x="1448" y="253"/>
                </a:cubicBezTo>
                <a:cubicBezTo>
                  <a:pt x="1447" y="260"/>
                  <a:pt x="1440" y="275"/>
                  <a:pt x="1418" y="275"/>
                </a:cubicBezTo>
                <a:cubicBezTo>
                  <a:pt x="1397" y="275"/>
                  <a:pt x="1390" y="260"/>
                  <a:pt x="1389" y="253"/>
                </a:cubicBezTo>
                <a:cubicBezTo>
                  <a:pt x="1388" y="249"/>
                  <a:pt x="1388" y="245"/>
                  <a:pt x="1388" y="241"/>
                </a:cubicBezTo>
                <a:cubicBezTo>
                  <a:pt x="1388" y="10"/>
                  <a:pt x="1388" y="10"/>
                  <a:pt x="1388" y="10"/>
                </a:cubicBezTo>
                <a:cubicBezTo>
                  <a:pt x="1309" y="10"/>
                  <a:pt x="1309" y="10"/>
                  <a:pt x="1309" y="10"/>
                </a:cubicBezTo>
                <a:cubicBezTo>
                  <a:pt x="1309" y="234"/>
                  <a:pt x="1309" y="234"/>
                  <a:pt x="1309" y="234"/>
                </a:cubicBezTo>
                <a:cubicBezTo>
                  <a:pt x="1309" y="239"/>
                  <a:pt x="1309" y="251"/>
                  <a:pt x="1310" y="254"/>
                </a:cubicBezTo>
                <a:cubicBezTo>
                  <a:pt x="1315" y="312"/>
                  <a:pt x="1361" y="331"/>
                  <a:pt x="1418" y="331"/>
                </a:cubicBezTo>
                <a:cubicBezTo>
                  <a:pt x="1476" y="331"/>
                  <a:pt x="1522" y="312"/>
                  <a:pt x="1527" y="254"/>
                </a:cubicBezTo>
                <a:cubicBezTo>
                  <a:pt x="1528" y="251"/>
                  <a:pt x="1528" y="239"/>
                  <a:pt x="1528" y="234"/>
                </a:cubicBezTo>
                <a:lnTo>
                  <a:pt x="1528" y="10"/>
                </a:lnTo>
                <a:close/>
                <a:moveTo>
                  <a:pt x="2069" y="147"/>
                </a:moveTo>
                <a:cubicBezTo>
                  <a:pt x="2069" y="192"/>
                  <a:pt x="2069" y="192"/>
                  <a:pt x="2069" y="192"/>
                </a:cubicBezTo>
                <a:cubicBezTo>
                  <a:pt x="2101" y="192"/>
                  <a:pt x="2101" y="192"/>
                  <a:pt x="2101" y="192"/>
                </a:cubicBezTo>
                <a:cubicBezTo>
                  <a:pt x="2101" y="237"/>
                  <a:pt x="2101" y="237"/>
                  <a:pt x="2101" y="237"/>
                </a:cubicBezTo>
                <a:cubicBezTo>
                  <a:pt x="2101" y="241"/>
                  <a:pt x="2101" y="246"/>
                  <a:pt x="2100" y="249"/>
                </a:cubicBezTo>
                <a:cubicBezTo>
                  <a:pt x="2099" y="258"/>
                  <a:pt x="2091" y="272"/>
                  <a:pt x="2068" y="272"/>
                </a:cubicBezTo>
                <a:cubicBezTo>
                  <a:pt x="2045" y="272"/>
                  <a:pt x="2038" y="258"/>
                  <a:pt x="2036" y="249"/>
                </a:cubicBezTo>
                <a:cubicBezTo>
                  <a:pt x="2036" y="246"/>
                  <a:pt x="2035" y="241"/>
                  <a:pt x="2035" y="237"/>
                </a:cubicBezTo>
                <a:cubicBezTo>
                  <a:pt x="2035" y="95"/>
                  <a:pt x="2035" y="95"/>
                  <a:pt x="2035" y="95"/>
                </a:cubicBezTo>
                <a:cubicBezTo>
                  <a:pt x="2035" y="90"/>
                  <a:pt x="2036" y="85"/>
                  <a:pt x="2037" y="80"/>
                </a:cubicBezTo>
                <a:cubicBezTo>
                  <a:pt x="2038" y="73"/>
                  <a:pt x="2045" y="58"/>
                  <a:pt x="2068" y="58"/>
                </a:cubicBezTo>
                <a:cubicBezTo>
                  <a:pt x="2092" y="58"/>
                  <a:pt x="2098" y="74"/>
                  <a:pt x="2099" y="80"/>
                </a:cubicBezTo>
                <a:cubicBezTo>
                  <a:pt x="2100" y="85"/>
                  <a:pt x="2100" y="92"/>
                  <a:pt x="2100" y="92"/>
                </a:cubicBezTo>
                <a:cubicBezTo>
                  <a:pt x="2100" y="110"/>
                  <a:pt x="2100" y="110"/>
                  <a:pt x="2100" y="110"/>
                </a:cubicBezTo>
                <a:cubicBezTo>
                  <a:pt x="2178" y="110"/>
                  <a:pt x="2178" y="110"/>
                  <a:pt x="2178" y="110"/>
                </a:cubicBezTo>
                <a:cubicBezTo>
                  <a:pt x="2178" y="99"/>
                  <a:pt x="2178" y="99"/>
                  <a:pt x="2178" y="99"/>
                </a:cubicBezTo>
                <a:cubicBezTo>
                  <a:pt x="2178" y="99"/>
                  <a:pt x="2179" y="89"/>
                  <a:pt x="2178" y="79"/>
                </a:cubicBezTo>
                <a:cubicBezTo>
                  <a:pt x="2172" y="20"/>
                  <a:pt x="2124" y="2"/>
                  <a:pt x="2068" y="2"/>
                </a:cubicBezTo>
                <a:cubicBezTo>
                  <a:pt x="2013" y="2"/>
                  <a:pt x="1966" y="21"/>
                  <a:pt x="1959" y="79"/>
                </a:cubicBezTo>
                <a:cubicBezTo>
                  <a:pt x="1958" y="84"/>
                  <a:pt x="1958" y="94"/>
                  <a:pt x="1958" y="99"/>
                </a:cubicBezTo>
                <a:cubicBezTo>
                  <a:pt x="1958" y="230"/>
                  <a:pt x="1958" y="230"/>
                  <a:pt x="1958" y="230"/>
                </a:cubicBezTo>
                <a:cubicBezTo>
                  <a:pt x="1958" y="236"/>
                  <a:pt x="1958" y="241"/>
                  <a:pt x="1959" y="251"/>
                </a:cubicBezTo>
                <a:cubicBezTo>
                  <a:pt x="1964" y="308"/>
                  <a:pt x="2013" y="328"/>
                  <a:pt x="2068" y="328"/>
                </a:cubicBezTo>
                <a:cubicBezTo>
                  <a:pt x="2124" y="328"/>
                  <a:pt x="2173" y="308"/>
                  <a:pt x="2178" y="251"/>
                </a:cubicBezTo>
                <a:cubicBezTo>
                  <a:pt x="2179" y="241"/>
                  <a:pt x="2179" y="236"/>
                  <a:pt x="2179" y="230"/>
                </a:cubicBezTo>
                <a:cubicBezTo>
                  <a:pt x="2179" y="147"/>
                  <a:pt x="2179" y="147"/>
                  <a:pt x="2179" y="147"/>
                </a:cubicBezTo>
                <a:lnTo>
                  <a:pt x="2069" y="147"/>
                </a:lnTo>
                <a:close/>
              </a:path>
            </a:pathLst>
          </a:custGeom>
          <a:solidFill>
            <a:srgbClr val="0924A5"/>
          </a:solidFill>
          <a:ln>
            <a:noFill/>
          </a:ln>
        </p:spPr>
        <p:txBody>
          <a:bodyPr vert="horz" wrap="square" lIns="91411" tIns="45705" rIns="91411" bIns="45705" numCol="1" anchor="t" anchorCtr="0" compatLnSpc="1">
            <a:prstTxWarp prst="textNoShape">
              <a:avLst/>
            </a:prstTxWarp>
            <a:scene3d>
              <a:camera prst="orthographicFront"/>
              <a:lightRig rig="threePt" dir="t"/>
            </a:scene3d>
            <a:sp3d>
              <a:bevelT w="0" h="6350"/>
            </a:sp3d>
          </a:bodyPr>
          <a:lstStyle/>
          <a:p>
            <a:pPr marL="0" marR="0" lvl="0" indent="0" algn="l" defTabSz="914126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sz="1959" noProof="0" dirty="0"/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5631" y="6141164"/>
            <a:ext cx="1371564" cy="450000"/>
          </a:xfrm>
          <a:prstGeom prst="rect">
            <a:avLst/>
          </a:prstGeom>
        </p:spPr>
      </p:pic>
      <p:sp>
        <p:nvSpPr>
          <p:cNvPr id="7" name="직사각형 133">
            <a:extLst>
              <a:ext uri="{FF2B5EF4-FFF2-40B4-BE49-F238E27FC236}">
                <a16:creationId xmlns:a16="http://schemas.microsoft.com/office/drawing/2014/main" id="{DE8CAD59-3F29-4FBB-AE0A-697DDFD5E69E}"/>
              </a:ext>
            </a:extLst>
          </p:cNvPr>
          <p:cNvSpPr/>
          <p:nvPr userDrawn="1"/>
        </p:nvSpPr>
        <p:spPr>
          <a:xfrm>
            <a:off x="990000" y="4320000"/>
            <a:ext cx="5832526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/>
          <a:p>
            <a:pPr defTabSz="914400" latinLnBrk="1">
              <a:defRPr/>
            </a:pPr>
            <a:r>
              <a:rPr lang="en-US" altLang="ko-KR" sz="2400" baseline="0" dirty="0">
                <a:solidFill>
                  <a:srgbClr val="1428A0"/>
                </a:solidFill>
                <a:latin typeface="Samsung Sharp Sans" pitchFamily="2" charset="0"/>
                <a:ea typeface="Samsung Sharp Sans" pitchFamily="2" charset="0"/>
                <a:cs typeface="Samsung Sharp Sans" pitchFamily="2" charset="0"/>
              </a:rPr>
              <a:t>Big Data Course</a:t>
            </a:r>
            <a:endParaRPr lang="ko-KR" altLang="en-US" sz="2400" dirty="0">
              <a:solidFill>
                <a:srgbClr val="1428A0"/>
              </a:solidFill>
              <a:latin typeface="Samsung Sharp Sans" pitchFamily="2" charset="0"/>
              <a:ea typeface="Samsung Sharp Sans" pitchFamily="2" charset="0"/>
              <a:cs typeface="Samsung Sharp Sans" pitchFamily="2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6149771-D78D-40D7-8B97-564358008D8D}"/>
              </a:ext>
            </a:extLst>
          </p:cNvPr>
          <p:cNvSpPr/>
          <p:nvPr userDrawn="1"/>
        </p:nvSpPr>
        <p:spPr>
          <a:xfrm>
            <a:off x="724689" y="4320000"/>
            <a:ext cx="54000" cy="360000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ko-KR" altLang="en-US" dirty="0">
              <a:solidFill>
                <a:prstClr val="white"/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sp>
        <p:nvSpPr>
          <p:cNvPr id="11" name="텍스트 개체 틀 18">
            <a:extLst>
              <a:ext uri="{FF2B5EF4-FFF2-40B4-BE49-F238E27FC236}">
                <a16:creationId xmlns:a16="http://schemas.microsoft.com/office/drawing/2014/main" id="{02AC410D-7805-4DA9-915F-991D726861C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20000" y="3551768"/>
            <a:ext cx="6837808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ko-KR" altLang="en-US" sz="1800" dirty="0">
                <a:solidFill>
                  <a:schemeClr val="bg1">
                    <a:lumMod val="50000"/>
                  </a:schemeClr>
                </a:solidFill>
                <a:latin typeface="Samsung Sharp Sans" pitchFamily="2" charset="0"/>
                <a:ea typeface="Samsung Sharp Sans" pitchFamily="2" charset="0"/>
                <a:cs typeface="Samsung Sharp Sans" pitchFamily="2" charset="0"/>
              </a:defRPr>
            </a:lvl1pPr>
          </a:lstStyle>
          <a:p>
            <a:pPr marL="0" lvl="0" defTabSz="457050" latinLnBrk="0"/>
            <a:r>
              <a:rPr lang="en-US" altLang="ko-KR" dirty="0"/>
              <a:t>Team Name</a:t>
            </a:r>
            <a:endParaRPr lang="ko-KR" altLang="en-US" dirty="0"/>
          </a:p>
        </p:txBody>
      </p:sp>
      <p:sp>
        <p:nvSpPr>
          <p:cNvPr id="12" name="제목 2">
            <a:extLst>
              <a:ext uri="{FF2B5EF4-FFF2-40B4-BE49-F238E27FC236}">
                <a16:creationId xmlns:a16="http://schemas.microsoft.com/office/drawing/2014/main" id="{44AF0917-EEBC-44C5-8BA6-F1CA2AFA4B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1710000"/>
            <a:ext cx="5221019" cy="14773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lvl1pPr>
              <a:lnSpc>
                <a:spcPct val="100000"/>
              </a:lnSpc>
              <a:defRPr lang="ko-KR" altLang="en-US" sz="4800">
                <a:solidFill>
                  <a:schemeClr val="tx1"/>
                </a:solidFill>
                <a:latin typeface="Samsung Sharp Sans" pitchFamily="2" charset="0"/>
                <a:ea typeface="Samsung Sharp Sans" pitchFamily="2" charset="0"/>
                <a:cs typeface="Samsung Sharp Sans" pitchFamily="2" charset="0"/>
              </a:defRPr>
            </a:lvl1pPr>
          </a:lstStyle>
          <a:p>
            <a:pPr marL="0" lvl="0" defTabSz="457200" latinLnBrk="0"/>
            <a:r>
              <a:rPr lang="en-US" altLang="ko-KR" dirty="0"/>
              <a:t>Project</a:t>
            </a:r>
            <a:r>
              <a:rPr lang="ko-KR" altLang="en-US" dirty="0"/>
              <a:t> </a:t>
            </a:r>
            <a:br>
              <a:rPr lang="en-US" altLang="ko-KR" dirty="0"/>
            </a:br>
            <a:r>
              <a:rPr lang="en-US" altLang="ko-KR" dirty="0"/>
              <a:t>Name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32291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le of Contents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88" y="0"/>
            <a:ext cx="9902825" cy="6858000"/>
          </a:xfrm>
          <a:prstGeom prst="rect">
            <a:avLst/>
          </a:prstGeom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107951CE-0A5B-4EC7-B663-290867B6A3B2}"/>
              </a:ext>
            </a:extLst>
          </p:cNvPr>
          <p:cNvCxnSpPr/>
          <p:nvPr userDrawn="1"/>
        </p:nvCxnSpPr>
        <p:spPr>
          <a:xfrm>
            <a:off x="449468" y="6424935"/>
            <a:ext cx="900071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슬라이드 번호 개체 틀 15">
            <a:extLst>
              <a:ext uri="{FF2B5EF4-FFF2-40B4-BE49-F238E27FC236}">
                <a16:creationId xmlns:a16="http://schemas.microsoft.com/office/drawing/2014/main" id="{DB8B1220-1660-457F-B990-656A8230EA54}"/>
              </a:ext>
            </a:extLst>
          </p:cNvPr>
          <p:cNvSpPr txBox="1">
            <a:spLocks/>
          </p:cNvSpPr>
          <p:nvPr userDrawn="1"/>
        </p:nvSpPr>
        <p:spPr>
          <a:xfrm>
            <a:off x="8836343" y="6498001"/>
            <a:ext cx="613839" cy="1384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defPPr>
              <a:defRPr lang="ko-KR"/>
            </a:defPPr>
            <a:lvl1pPr algn="r"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SamsungOne 300" panose="020B0303030303020204" pitchFamily="34" charset="0"/>
                <a:ea typeface="SamsungOne 300" panose="020B0303030303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r" defTabSz="91409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3977B04-C971-4466-AB79-612C9E649B30}" type="slidenum">
              <a:rPr lang="en-US" altLang="ko-KR" sz="900" smtClean="0">
                <a:solidFill>
                  <a:schemeClr val="bg1">
                    <a:lumMod val="50000"/>
                  </a:schemeClr>
                </a:solidFill>
                <a:latin typeface="SamsungOne 400" panose="020B0503030303020204" pitchFamily="34" charset="0"/>
                <a:ea typeface="SamsungOne 400" panose="020B0503030303020204" pitchFamily="34" charset="0"/>
              </a:rPr>
              <a:pPr marL="0" marR="0" lvl="0" indent="0" algn="r" defTabSz="914094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SamsungOne 400" panose="020B0503030303020204" pitchFamily="34" charset="0"/>
              <a:ea typeface="SamsungOne 400" panose="020B0503030303020204" pitchFamily="34" charset="0"/>
              <a:cs typeface="Arial Unicode MS" panose="020B0604020202020204" pitchFamily="50" charset="-127"/>
            </a:endParaRPr>
          </a:p>
        </p:txBody>
      </p:sp>
      <p:sp>
        <p:nvSpPr>
          <p:cNvPr id="14" name="직사각형 7">
            <a:extLst>
              <a:ext uri="{FF2B5EF4-FFF2-40B4-BE49-F238E27FC236}">
                <a16:creationId xmlns:a16="http://schemas.microsoft.com/office/drawing/2014/main" id="{AA07D337-B9C3-4E5E-811E-AEFBB17ADEF5}"/>
              </a:ext>
            </a:extLst>
          </p:cNvPr>
          <p:cNvSpPr/>
          <p:nvPr userDrawn="1"/>
        </p:nvSpPr>
        <p:spPr>
          <a:xfrm>
            <a:off x="449468" y="6498001"/>
            <a:ext cx="2888788" cy="1692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/>
          <a:p>
            <a:pPr algn="l"/>
            <a:r>
              <a:rPr lang="en-US" altLang="ko-KR" sz="1100" b="0" dirty="0">
                <a:solidFill>
                  <a:schemeClr val="bg1">
                    <a:lumMod val="50000"/>
                  </a:schemeClr>
                </a:solidFill>
                <a:latin typeface="Samsung Sharp Sans Bold" pitchFamily="2" charset="0"/>
                <a:ea typeface="Samsung Sharp Sans Bold" pitchFamily="2" charset="0"/>
                <a:cs typeface="Samsung Sharp Sans Bold" pitchFamily="2" charset="0"/>
              </a:rPr>
              <a:t>Samsung Innovation Campus</a:t>
            </a:r>
          </a:p>
        </p:txBody>
      </p:sp>
      <p:sp>
        <p:nvSpPr>
          <p:cNvPr id="7" name="직사각형 133">
            <a:extLst>
              <a:ext uri="{FF2B5EF4-FFF2-40B4-BE49-F238E27FC236}">
                <a16:creationId xmlns:a16="http://schemas.microsoft.com/office/drawing/2014/main" id="{7A4BCBFF-5289-45FE-BA09-DFF42AF8A347}"/>
              </a:ext>
            </a:extLst>
          </p:cNvPr>
          <p:cNvSpPr/>
          <p:nvPr userDrawn="1"/>
        </p:nvSpPr>
        <p:spPr>
          <a:xfrm>
            <a:off x="990000" y="4157757"/>
            <a:ext cx="3563339" cy="3231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/>
          <a:p>
            <a:pPr defTabSz="457200">
              <a:defRPr/>
            </a:pPr>
            <a:r>
              <a:rPr lang="en-US" altLang="ko-KR" sz="2100" dirty="0">
                <a:solidFill>
                  <a:srgbClr val="1428A0"/>
                </a:solidFill>
                <a:latin typeface="Samsung Sharp Sans" pitchFamily="2" charset="0"/>
                <a:ea typeface="Samsung Sharp Sans" pitchFamily="2" charset="0"/>
                <a:cs typeface="Samsung Sharp Sans" pitchFamily="2" charset="0"/>
              </a:rPr>
              <a:t>Big Data Course</a:t>
            </a:r>
            <a:endParaRPr lang="ko-KR" altLang="en-US" sz="2100" dirty="0">
              <a:solidFill>
                <a:srgbClr val="1428A0"/>
              </a:solidFill>
              <a:latin typeface="Samsung Sharp Sans" pitchFamily="2" charset="0"/>
              <a:ea typeface="Samsung Sharp Sans" pitchFamily="2" charset="0"/>
              <a:cs typeface="Samsung Sharp Sans" pitchFamily="2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AA6CFBD-D9B3-4245-A68B-1D7EC1CB6F07}"/>
              </a:ext>
            </a:extLst>
          </p:cNvPr>
          <p:cNvSpPr/>
          <p:nvPr userDrawn="1"/>
        </p:nvSpPr>
        <p:spPr>
          <a:xfrm>
            <a:off x="720000" y="2095275"/>
            <a:ext cx="60008" cy="1759369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ko-KR" altLang="en-US" dirty="0">
              <a:solidFill>
                <a:prstClr val="white"/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B2EB59A-603F-4715-ABA1-D9DF69D44512}"/>
              </a:ext>
            </a:extLst>
          </p:cNvPr>
          <p:cNvSpPr/>
          <p:nvPr userDrawn="1"/>
        </p:nvSpPr>
        <p:spPr>
          <a:xfrm>
            <a:off x="720000" y="4157757"/>
            <a:ext cx="60008" cy="323165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ko-KR" altLang="en-US" dirty="0">
              <a:solidFill>
                <a:prstClr val="white"/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CF6BC111-C555-4B09-8375-33C4F4C2FB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90000" y="2095275"/>
            <a:ext cx="5221019" cy="13542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lvl1pPr>
              <a:lnSpc>
                <a:spcPct val="100000"/>
              </a:lnSpc>
              <a:defRPr lang="ko-KR" altLang="en-US" sz="4400">
                <a:solidFill>
                  <a:schemeClr val="tx1"/>
                </a:solidFill>
                <a:latin typeface="Samsung Sharp Sans" pitchFamily="2" charset="0"/>
                <a:ea typeface="Samsung Sharp Sans" pitchFamily="2" charset="0"/>
                <a:cs typeface="Samsung Sharp Sans" pitchFamily="2" charset="0"/>
              </a:defRPr>
            </a:lvl1pPr>
          </a:lstStyle>
          <a:p>
            <a:pPr marL="0" lvl="0" defTabSz="457200" latinLnBrk="0"/>
            <a:r>
              <a:rPr lang="en-US" altLang="ko-KR" dirty="0"/>
              <a:t>Project</a:t>
            </a:r>
            <a:r>
              <a:rPr lang="ko-KR" altLang="en-US" dirty="0"/>
              <a:t> </a:t>
            </a:r>
            <a:br>
              <a:rPr lang="en-US" altLang="ko-KR" dirty="0"/>
            </a:br>
            <a:r>
              <a:rPr lang="en-US" altLang="ko-KR" dirty="0"/>
              <a:t>Name</a:t>
            </a:r>
            <a:endParaRPr lang="ko-KR" altLang="en-US" dirty="0"/>
          </a:p>
        </p:txBody>
      </p:sp>
      <p:sp>
        <p:nvSpPr>
          <p:cNvPr id="17" name="텍스트 개체 틀 18">
            <a:extLst>
              <a:ext uri="{FF2B5EF4-FFF2-40B4-BE49-F238E27FC236}">
                <a16:creationId xmlns:a16="http://schemas.microsoft.com/office/drawing/2014/main" id="{CBEAE583-0BAA-455B-9555-B00A4FE8B1C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90000" y="3577645"/>
            <a:ext cx="6837808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ko-KR" altLang="en-US" sz="1800" dirty="0">
                <a:solidFill>
                  <a:schemeClr val="bg1">
                    <a:lumMod val="50000"/>
                  </a:schemeClr>
                </a:solidFill>
                <a:latin typeface="Samsung Sharp Sans" pitchFamily="2" charset="0"/>
                <a:ea typeface="Samsung Sharp Sans" pitchFamily="2" charset="0"/>
                <a:cs typeface="Samsung Sharp Sans" pitchFamily="2" charset="0"/>
              </a:defRPr>
            </a:lvl1pPr>
          </a:lstStyle>
          <a:p>
            <a:pPr marL="0" lvl="0" defTabSz="457050" latinLnBrk="0"/>
            <a:r>
              <a:rPr lang="en-US" altLang="ko-KR" dirty="0"/>
              <a:t>Team Name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90312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614" userDrawn="1">
          <p15:clr>
            <a:srgbClr val="FBAE40"/>
          </p15:clr>
        </p15:guide>
        <p15:guide id="2" pos="443" userDrawn="1">
          <p15:clr>
            <a:srgbClr val="FBAE40"/>
          </p15:clr>
        </p15:guide>
        <p15:guide id="3" pos="5955">
          <p15:clr>
            <a:srgbClr val="FBAE40"/>
          </p15:clr>
        </p15:guide>
        <p15:guide id="4" pos="609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2825" cy="6858000"/>
          </a:xfrm>
          <a:prstGeom prst="rect">
            <a:avLst/>
          </a:prstGeom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107951CE-0A5B-4EC7-B663-290867B6A3B2}"/>
              </a:ext>
            </a:extLst>
          </p:cNvPr>
          <p:cNvCxnSpPr/>
          <p:nvPr userDrawn="1"/>
        </p:nvCxnSpPr>
        <p:spPr>
          <a:xfrm>
            <a:off x="449468" y="6424935"/>
            <a:ext cx="900071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슬라이드 번호 개체 틀 15">
            <a:extLst>
              <a:ext uri="{FF2B5EF4-FFF2-40B4-BE49-F238E27FC236}">
                <a16:creationId xmlns:a16="http://schemas.microsoft.com/office/drawing/2014/main" id="{DB8B1220-1660-457F-B990-656A8230EA54}"/>
              </a:ext>
            </a:extLst>
          </p:cNvPr>
          <p:cNvSpPr txBox="1">
            <a:spLocks/>
          </p:cNvSpPr>
          <p:nvPr userDrawn="1"/>
        </p:nvSpPr>
        <p:spPr>
          <a:xfrm>
            <a:off x="8836343" y="6498001"/>
            <a:ext cx="613839" cy="1384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defPPr>
              <a:defRPr lang="ko-KR"/>
            </a:defPPr>
            <a:lvl1pPr algn="r"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SamsungOne 300" panose="020B0303030303020204" pitchFamily="34" charset="0"/>
                <a:ea typeface="SamsungOne 300" panose="020B0303030303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r" defTabSz="91409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3977B04-C971-4466-AB79-612C9E649B30}" type="slidenum">
              <a:rPr lang="en-US" altLang="ko-KR" sz="900" smtClean="0">
                <a:solidFill>
                  <a:schemeClr val="bg1">
                    <a:lumMod val="50000"/>
                  </a:schemeClr>
                </a:solidFill>
                <a:latin typeface="SamsungOne 400" panose="020B0503030303020204" pitchFamily="34" charset="0"/>
                <a:ea typeface="SamsungOne 400" panose="020B0503030303020204" pitchFamily="34" charset="0"/>
              </a:rPr>
              <a:pPr marL="0" marR="0" lvl="0" indent="0" algn="r" defTabSz="914094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SamsungOne 400" panose="020B0503030303020204" pitchFamily="34" charset="0"/>
              <a:ea typeface="SamsungOne 400" panose="020B0503030303020204" pitchFamily="34" charset="0"/>
              <a:cs typeface="Arial Unicode MS" panose="020B0604020202020204" pitchFamily="50" charset="-127"/>
            </a:endParaRPr>
          </a:p>
        </p:txBody>
      </p:sp>
      <p:sp>
        <p:nvSpPr>
          <p:cNvPr id="14" name="직사각형 7">
            <a:extLst>
              <a:ext uri="{FF2B5EF4-FFF2-40B4-BE49-F238E27FC236}">
                <a16:creationId xmlns:a16="http://schemas.microsoft.com/office/drawing/2014/main" id="{AA07D337-B9C3-4E5E-811E-AEFBB17ADEF5}"/>
              </a:ext>
            </a:extLst>
          </p:cNvPr>
          <p:cNvSpPr/>
          <p:nvPr userDrawn="1"/>
        </p:nvSpPr>
        <p:spPr>
          <a:xfrm>
            <a:off x="449468" y="6498001"/>
            <a:ext cx="2888788" cy="1692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/>
          <a:p>
            <a:pPr algn="l"/>
            <a:r>
              <a:rPr lang="en-US" altLang="ko-KR" sz="1100" b="0" dirty="0">
                <a:solidFill>
                  <a:schemeClr val="bg1">
                    <a:lumMod val="50000"/>
                  </a:schemeClr>
                </a:solidFill>
                <a:latin typeface="Samsung Sharp Sans Bold" pitchFamily="2" charset="0"/>
                <a:ea typeface="Samsung Sharp Sans Bold" pitchFamily="2" charset="0"/>
                <a:cs typeface="Samsung Sharp Sans Bold" pitchFamily="2" charset="0"/>
              </a:rPr>
              <a:t>Samsung Innovation Campus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4625E1FE-2B04-4D8E-A51A-6B9CEC7B37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9468" y="1440000"/>
            <a:ext cx="8541187" cy="4924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lvl1pPr>
              <a:lnSpc>
                <a:spcPct val="100000"/>
              </a:lnSpc>
              <a:spcBef>
                <a:spcPts val="0"/>
              </a:spcBef>
              <a:defRPr lang="ko-KR" altLang="en-US" sz="3200">
                <a:solidFill>
                  <a:schemeClr val="tx1">
                    <a:lumMod val="95000"/>
                    <a:lumOff val="5000"/>
                  </a:schemeClr>
                </a:solidFill>
                <a:latin typeface="Samsung Sharp Sans" pitchFamily="2" charset="0"/>
                <a:ea typeface="Samsung Sharp Sans" pitchFamily="2" charset="0"/>
                <a:cs typeface="Samsung Sharp Sans" pitchFamily="2" charset="0"/>
              </a:defRPr>
            </a:lvl1pPr>
          </a:lstStyle>
          <a:p>
            <a:pPr marL="0" lvl="0" defTabSz="457050" latinLnBrk="0"/>
            <a:r>
              <a:rPr lang="en-US" altLang="ko-KR" dirty="0"/>
              <a:t>Slide Title</a:t>
            </a:r>
            <a:endParaRPr lang="ko-KR" altLang="en-US" dirty="0"/>
          </a:p>
        </p:txBody>
      </p:sp>
      <p:sp>
        <p:nvSpPr>
          <p:cNvPr id="19" name="텍스트 개체 틀 18">
            <a:extLst>
              <a:ext uri="{FF2B5EF4-FFF2-40B4-BE49-F238E27FC236}">
                <a16:creationId xmlns:a16="http://schemas.microsoft.com/office/drawing/2014/main" id="{DFEC8C6A-D95C-4B3C-9803-6F9071BF0C2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9468" y="450000"/>
            <a:ext cx="323896" cy="27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ko-KR" altLang="en-US" sz="1799" dirty="0">
                <a:solidFill>
                  <a:schemeClr val="bg1"/>
                </a:solidFill>
                <a:latin typeface="Samsung Sharp Sans Medium" pitchFamily="2" charset="0"/>
                <a:ea typeface="Samsung Sharp Sans Medium" pitchFamily="2" charset="0"/>
                <a:cs typeface="Samsung Sharp Sans Medium" pitchFamily="2" charset="0"/>
              </a:defRPr>
            </a:lvl1pPr>
          </a:lstStyle>
          <a:p>
            <a:pPr marL="0" lvl="0" defTabSz="457050" latinLnBrk="0"/>
            <a:r>
              <a:rPr lang="en-US" altLang="ko-KR" dirty="0"/>
              <a:t>No</a:t>
            </a:r>
            <a:endParaRPr lang="ko-KR" altLang="en-US" dirty="0"/>
          </a:p>
        </p:txBody>
      </p:sp>
      <p:sp>
        <p:nvSpPr>
          <p:cNvPr id="20" name="텍스트 개체 틀 18">
            <a:extLst>
              <a:ext uri="{FF2B5EF4-FFF2-40B4-BE49-F238E27FC236}">
                <a16:creationId xmlns:a16="http://schemas.microsoft.com/office/drawing/2014/main" id="{6DA22BCA-E7E2-4377-AD8E-AC1336C3DB3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90000" y="450001"/>
            <a:ext cx="6837808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ko-KR" altLang="en-US" sz="1799" dirty="0">
                <a:solidFill>
                  <a:schemeClr val="bg1"/>
                </a:solidFill>
                <a:latin typeface="Samsung Sharp Sans Bold" pitchFamily="2" charset="0"/>
                <a:ea typeface="Samsung Sharp Sans Bold" pitchFamily="2" charset="0"/>
                <a:cs typeface="Samsung Sharp Sans Bold" pitchFamily="2" charset="0"/>
              </a:defRPr>
            </a:lvl1pPr>
          </a:lstStyle>
          <a:p>
            <a:pPr marL="0" lvl="0" defTabSz="457050" latinLnBrk="0"/>
            <a:r>
              <a:rPr lang="en-US" altLang="ko-KR" dirty="0"/>
              <a:t>Subtitle</a:t>
            </a:r>
            <a:endParaRPr lang="ko-KR" altLang="en-US" dirty="0"/>
          </a:p>
        </p:txBody>
      </p:sp>
      <p:sp>
        <p:nvSpPr>
          <p:cNvPr id="21" name="텍스트 개체 틀 18">
            <a:extLst>
              <a:ext uri="{FF2B5EF4-FFF2-40B4-BE49-F238E27FC236}">
                <a16:creationId xmlns:a16="http://schemas.microsoft.com/office/drawing/2014/main" id="{7647BD6A-5F13-45AE-859C-AF2BA0A739E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12825" y="480779"/>
            <a:ext cx="340625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altLang="en-US" sz="1600" dirty="0">
                <a:solidFill>
                  <a:schemeClr val="bg1">
                    <a:lumMod val="85000"/>
                  </a:schemeClr>
                </a:solidFill>
                <a:latin typeface="Samsung Sharp Sans Bold" pitchFamily="2" charset="0"/>
                <a:ea typeface="Samsung Sharp Sans Bold" pitchFamily="2" charset="0"/>
                <a:cs typeface="Samsung Sharp Sans Bold" pitchFamily="2" charset="0"/>
              </a:defRPr>
            </a:lvl1pPr>
          </a:lstStyle>
          <a:p>
            <a:pPr marL="0" lvl="0" algn="r" defTabSz="457063" latinLnBrk="0"/>
            <a:r>
              <a:rPr lang="en-US" altLang="ko-KR" dirty="0"/>
              <a:t>00</a:t>
            </a:r>
            <a:endParaRPr lang="ko-KR" altLang="en-US" dirty="0"/>
          </a:p>
        </p:txBody>
      </p:sp>
      <p:sp>
        <p:nvSpPr>
          <p:cNvPr id="23" name="텍스트 개체 틀 18">
            <a:extLst>
              <a:ext uri="{FF2B5EF4-FFF2-40B4-BE49-F238E27FC236}">
                <a16:creationId xmlns:a16="http://schemas.microsoft.com/office/drawing/2014/main" id="{3A9667F7-80AD-4A7A-8543-285975B06BE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740667" y="480779"/>
            <a:ext cx="467850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ko-KR" altLang="en-US" sz="1600" dirty="0">
                <a:solidFill>
                  <a:schemeClr val="bg1">
                    <a:lumMod val="85000"/>
                  </a:schemeClr>
                </a:solidFill>
                <a:latin typeface="Samsung Sharp Sans Medium" pitchFamily="2" charset="0"/>
                <a:ea typeface="Samsung Sharp Sans Medium" pitchFamily="2" charset="0"/>
                <a:cs typeface="Samsung Sharp Sans Medium" pitchFamily="2" charset="0"/>
              </a:defRPr>
            </a:lvl1pPr>
          </a:lstStyle>
          <a:p>
            <a:pPr marL="0" lvl="0" defTabSz="457050" latinLnBrk="0"/>
            <a:r>
              <a:rPr lang="en-US" altLang="ko-KR" dirty="0"/>
              <a:t>UNIT</a:t>
            </a:r>
            <a:endParaRPr lang="ko-KR" altLang="en-US" dirty="0"/>
          </a:p>
        </p:txBody>
      </p:sp>
      <p:sp>
        <p:nvSpPr>
          <p:cNvPr id="16" name="텍스트 개체 틀 7">
            <a:extLst>
              <a:ext uri="{FF2B5EF4-FFF2-40B4-BE49-F238E27FC236}">
                <a16:creationId xmlns:a16="http://schemas.microsoft.com/office/drawing/2014/main" id="{B6D584F0-F100-4FB4-B935-0E81DB1D3B5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2288" y="2221661"/>
            <a:ext cx="8055439" cy="914400"/>
          </a:xfrm>
          <a:prstGeom prst="rect">
            <a:avLst/>
          </a:prstGeom>
        </p:spPr>
        <p:txBody>
          <a:bodyPr lIns="0" tIns="0" rIns="0" bIns="0"/>
          <a:lstStyle>
            <a:lvl1pPr marL="177747" indent="-177747">
              <a:lnSpc>
                <a:spcPts val="1800"/>
              </a:lnSpc>
              <a:buSzPct val="105000"/>
              <a:buFontTx/>
              <a:buBlip>
                <a:blip r:embed="rId3"/>
              </a:buBlip>
              <a:defRPr kumimoji="1" lang="en-US" altLang="ko-KR" sz="1400" kern="1200" smtClean="0">
                <a:solidFill>
                  <a:prstClr val="black">
                    <a:lumMod val="85000"/>
                    <a:lumOff val="15000"/>
                  </a:prstClr>
                </a:solidFill>
                <a:latin typeface="SamsungOne 400" panose="020B0503030303020204" pitchFamily="34" charset="0"/>
                <a:ea typeface="SamsungOne 400" panose="020B0503030303020204" pitchFamily="34" charset="0"/>
                <a:cs typeface="+mn-cs"/>
              </a:defRPr>
            </a:lvl1pPr>
            <a:lvl2pPr marL="360255" indent="-182508">
              <a:lnSpc>
                <a:spcPts val="1800"/>
              </a:lnSpc>
              <a:buSzPct val="80000"/>
              <a:buFontTx/>
              <a:buBlip>
                <a:blip r:embed="rId4"/>
              </a:buBlip>
              <a:tabLst>
                <a:tab pos="447541" algn="l"/>
              </a:tabLst>
              <a:defRPr lang="en-US" altLang="ko-KR" sz="1300" kern="12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SamsungOne 400" panose="020B0503030303020204" pitchFamily="34" charset="0"/>
                <a:ea typeface="SamsungOne 400" panose="020B0503030303020204" pitchFamily="34" charset="0"/>
                <a:cs typeface="+mn-cs"/>
              </a:defRPr>
            </a:lvl2pPr>
          </a:lstStyle>
          <a:p>
            <a:pPr lvl="0"/>
            <a:r>
              <a:rPr lang="en-US" altLang="ko-KR" dirty="0"/>
              <a:t>Level1</a:t>
            </a:r>
          </a:p>
          <a:p>
            <a:pPr lvl="1"/>
            <a:r>
              <a:rPr lang="en-US" altLang="ko-KR" dirty="0"/>
              <a:t>Level2</a:t>
            </a:r>
          </a:p>
          <a:p>
            <a:pPr lvl="1"/>
            <a:endParaRPr lang="en-US" altLang="ko-KR" dirty="0"/>
          </a:p>
          <a:p>
            <a:pPr marL="628461" lvl="1" indent="-207901" algn="l" defTabSz="843830" rtl="0" eaLnBrk="1" latinLnBrk="1" hangingPunct="1">
              <a:lnSpc>
                <a:spcPct val="90000"/>
              </a:lnSpc>
              <a:spcBef>
                <a:spcPts val="462"/>
              </a:spcBef>
              <a:buSzPct val="90000"/>
              <a:buFontTx/>
              <a:buBlip>
                <a:blip r:embed="rId5"/>
              </a:buBlip>
            </a:pPr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17" name="슬라이드 번호 개체 틀 15">
            <a:extLst>
              <a:ext uri="{FF2B5EF4-FFF2-40B4-BE49-F238E27FC236}">
                <a16:creationId xmlns:a16="http://schemas.microsoft.com/office/drawing/2014/main" id="{D63EAE99-E447-4D3D-BFEE-6F01BCEB93C6}"/>
              </a:ext>
            </a:extLst>
          </p:cNvPr>
          <p:cNvSpPr txBox="1">
            <a:spLocks/>
          </p:cNvSpPr>
          <p:nvPr userDrawn="1"/>
        </p:nvSpPr>
        <p:spPr>
          <a:xfrm>
            <a:off x="6846858" y="6498001"/>
            <a:ext cx="2349501" cy="1384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defPPr>
              <a:defRPr lang="ko-KR"/>
            </a:defPPr>
            <a:lvl1pPr algn="r"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SamsungOne 300" panose="020B0303030303020204" pitchFamily="34" charset="0"/>
                <a:ea typeface="SamsungOne 300" panose="020B0303030303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 defTabSz="914094" latinLnBrk="1">
              <a:defRPr/>
            </a:pP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Samsung Sharp Sans Medium" pitchFamily="2" charset="0"/>
                <a:ea typeface="Samsung Sharp Sans Medium" pitchFamily="2" charset="0"/>
                <a:cs typeface="Samsung Sharp Sans Medium" pitchFamily="2" charset="0"/>
              </a:rPr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31020467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02" userDrawn="1">
          <p15:clr>
            <a:srgbClr val="FBAE40"/>
          </p15:clr>
        </p15:guide>
        <p15:guide id="2" pos="285">
          <p15:clr>
            <a:srgbClr val="FBAE40"/>
          </p15:clr>
        </p15:guide>
        <p15:guide id="3" pos="5955">
          <p15:clr>
            <a:srgbClr val="FBAE40"/>
          </p15:clr>
        </p15:guide>
        <p15:guide id="4" pos="329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2825" cy="6858000"/>
          </a:xfrm>
          <a:prstGeom prst="rect">
            <a:avLst/>
          </a:prstGeom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107951CE-0A5B-4EC7-B663-290867B6A3B2}"/>
              </a:ext>
            </a:extLst>
          </p:cNvPr>
          <p:cNvCxnSpPr/>
          <p:nvPr userDrawn="1"/>
        </p:nvCxnSpPr>
        <p:spPr>
          <a:xfrm>
            <a:off x="449468" y="6424935"/>
            <a:ext cx="900071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슬라이드 번호 개체 틀 15">
            <a:extLst>
              <a:ext uri="{FF2B5EF4-FFF2-40B4-BE49-F238E27FC236}">
                <a16:creationId xmlns:a16="http://schemas.microsoft.com/office/drawing/2014/main" id="{DB8B1220-1660-457F-B990-656A8230EA54}"/>
              </a:ext>
            </a:extLst>
          </p:cNvPr>
          <p:cNvSpPr txBox="1">
            <a:spLocks/>
          </p:cNvSpPr>
          <p:nvPr userDrawn="1"/>
        </p:nvSpPr>
        <p:spPr>
          <a:xfrm>
            <a:off x="8836343" y="6498001"/>
            <a:ext cx="613839" cy="1384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defPPr>
              <a:defRPr lang="ko-KR"/>
            </a:defPPr>
            <a:lvl1pPr algn="r"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SamsungOne 300" panose="020B0303030303020204" pitchFamily="34" charset="0"/>
                <a:ea typeface="SamsungOne 300" panose="020B0303030303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r" defTabSz="91409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3977B04-C971-4466-AB79-612C9E649B30}" type="slidenum">
              <a:rPr lang="en-US" altLang="ko-KR" sz="900" smtClean="0">
                <a:solidFill>
                  <a:schemeClr val="bg1">
                    <a:lumMod val="50000"/>
                  </a:schemeClr>
                </a:solidFill>
                <a:latin typeface="SamsungOne 400" panose="020B0503030303020204" pitchFamily="34" charset="0"/>
                <a:ea typeface="SamsungOne 400" panose="020B0503030303020204" pitchFamily="34" charset="0"/>
              </a:rPr>
              <a:pPr marL="0" marR="0" lvl="0" indent="0" algn="r" defTabSz="914094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SamsungOne 400" panose="020B0503030303020204" pitchFamily="34" charset="0"/>
              <a:ea typeface="SamsungOne 400" panose="020B0503030303020204" pitchFamily="34" charset="0"/>
              <a:cs typeface="Arial Unicode MS" panose="020B0604020202020204" pitchFamily="50" charset="-127"/>
            </a:endParaRPr>
          </a:p>
        </p:txBody>
      </p:sp>
      <p:sp>
        <p:nvSpPr>
          <p:cNvPr id="14" name="직사각형 7">
            <a:extLst>
              <a:ext uri="{FF2B5EF4-FFF2-40B4-BE49-F238E27FC236}">
                <a16:creationId xmlns:a16="http://schemas.microsoft.com/office/drawing/2014/main" id="{AA07D337-B9C3-4E5E-811E-AEFBB17ADEF5}"/>
              </a:ext>
            </a:extLst>
          </p:cNvPr>
          <p:cNvSpPr/>
          <p:nvPr userDrawn="1"/>
        </p:nvSpPr>
        <p:spPr>
          <a:xfrm>
            <a:off x="449468" y="6498001"/>
            <a:ext cx="2888788" cy="1692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/>
          <a:p>
            <a:pPr algn="l"/>
            <a:r>
              <a:rPr lang="en-US" altLang="ko-KR" sz="1100" b="0" dirty="0">
                <a:solidFill>
                  <a:schemeClr val="bg1">
                    <a:lumMod val="50000"/>
                  </a:schemeClr>
                </a:solidFill>
                <a:latin typeface="Samsung Sharp Sans Bold" pitchFamily="2" charset="0"/>
                <a:ea typeface="Samsung Sharp Sans Bold" pitchFamily="2" charset="0"/>
                <a:cs typeface="Samsung Sharp Sans Bold" pitchFamily="2" charset="0"/>
              </a:rPr>
              <a:t>Samsung Innovation Campus</a:t>
            </a:r>
          </a:p>
        </p:txBody>
      </p:sp>
      <p:sp>
        <p:nvSpPr>
          <p:cNvPr id="17" name="슬라이드 번호 개체 틀 15">
            <a:extLst>
              <a:ext uri="{FF2B5EF4-FFF2-40B4-BE49-F238E27FC236}">
                <a16:creationId xmlns:a16="http://schemas.microsoft.com/office/drawing/2014/main" id="{D63EAE99-E447-4D3D-BFEE-6F01BCEB93C6}"/>
              </a:ext>
            </a:extLst>
          </p:cNvPr>
          <p:cNvSpPr txBox="1">
            <a:spLocks/>
          </p:cNvSpPr>
          <p:nvPr userDrawn="1"/>
        </p:nvSpPr>
        <p:spPr>
          <a:xfrm>
            <a:off x="6846858" y="6498001"/>
            <a:ext cx="2349501" cy="1384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defPPr>
              <a:defRPr lang="ko-KR"/>
            </a:defPPr>
            <a:lvl1pPr algn="r"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SamsungOne 300" panose="020B0303030303020204" pitchFamily="34" charset="0"/>
                <a:ea typeface="SamsungOne 300" panose="020B0303030303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 defTabSz="914094" latinLnBrk="1">
              <a:defRPr/>
            </a:pP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Samsung Sharp Sans Medium" pitchFamily="2" charset="0"/>
                <a:ea typeface="Samsung Sharp Sans Medium" pitchFamily="2" charset="0"/>
                <a:cs typeface="Samsung Sharp Sans Medium" pitchFamily="2" charset="0"/>
              </a:rPr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4341595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02">
          <p15:clr>
            <a:srgbClr val="FBAE40"/>
          </p15:clr>
        </p15:guide>
        <p15:guide id="2" pos="285">
          <p15:clr>
            <a:srgbClr val="FBAE40"/>
          </p15:clr>
        </p15:guide>
        <p15:guide id="3" pos="5955">
          <p15:clr>
            <a:srgbClr val="FBAE40"/>
          </p15:clr>
        </p15:guide>
        <p15:guide id="4" pos="329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le of Contents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88" y="0"/>
            <a:ext cx="9902825" cy="6858000"/>
          </a:xfrm>
          <a:prstGeom prst="rect">
            <a:avLst/>
          </a:prstGeom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107951CE-0A5B-4EC7-B663-290867B6A3B2}"/>
              </a:ext>
            </a:extLst>
          </p:cNvPr>
          <p:cNvCxnSpPr/>
          <p:nvPr userDrawn="1"/>
        </p:nvCxnSpPr>
        <p:spPr>
          <a:xfrm>
            <a:off x="449468" y="6424935"/>
            <a:ext cx="900071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슬라이드 번호 개체 틀 15">
            <a:extLst>
              <a:ext uri="{FF2B5EF4-FFF2-40B4-BE49-F238E27FC236}">
                <a16:creationId xmlns:a16="http://schemas.microsoft.com/office/drawing/2014/main" id="{DB8B1220-1660-457F-B990-656A8230EA54}"/>
              </a:ext>
            </a:extLst>
          </p:cNvPr>
          <p:cNvSpPr txBox="1">
            <a:spLocks/>
          </p:cNvSpPr>
          <p:nvPr userDrawn="1"/>
        </p:nvSpPr>
        <p:spPr>
          <a:xfrm>
            <a:off x="8836343" y="6498001"/>
            <a:ext cx="613839" cy="1384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defPPr>
              <a:defRPr lang="ko-KR"/>
            </a:defPPr>
            <a:lvl1pPr algn="r"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SamsungOne 300" panose="020B0303030303020204" pitchFamily="34" charset="0"/>
                <a:ea typeface="SamsungOne 300" panose="020B0303030303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r" defTabSz="91409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3977B04-C971-4466-AB79-612C9E649B30}" type="slidenum">
              <a:rPr lang="en-US" altLang="ko-KR" sz="900" smtClean="0">
                <a:solidFill>
                  <a:schemeClr val="bg1">
                    <a:lumMod val="50000"/>
                  </a:schemeClr>
                </a:solidFill>
                <a:latin typeface="SamsungOne 400" panose="020B0503030303020204" pitchFamily="34" charset="0"/>
                <a:ea typeface="SamsungOne 400" panose="020B0503030303020204" pitchFamily="34" charset="0"/>
              </a:rPr>
              <a:pPr marL="0" marR="0" lvl="0" indent="0" algn="r" defTabSz="914094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SamsungOne 400" panose="020B0503030303020204" pitchFamily="34" charset="0"/>
              <a:ea typeface="SamsungOne 400" panose="020B0503030303020204" pitchFamily="34" charset="0"/>
              <a:cs typeface="Arial Unicode MS" panose="020B0604020202020204" pitchFamily="50" charset="-127"/>
            </a:endParaRPr>
          </a:p>
        </p:txBody>
      </p:sp>
      <p:sp>
        <p:nvSpPr>
          <p:cNvPr id="14" name="직사각형 7">
            <a:extLst>
              <a:ext uri="{FF2B5EF4-FFF2-40B4-BE49-F238E27FC236}">
                <a16:creationId xmlns:a16="http://schemas.microsoft.com/office/drawing/2014/main" id="{AA07D337-B9C3-4E5E-811E-AEFBB17ADEF5}"/>
              </a:ext>
            </a:extLst>
          </p:cNvPr>
          <p:cNvSpPr/>
          <p:nvPr userDrawn="1"/>
        </p:nvSpPr>
        <p:spPr>
          <a:xfrm>
            <a:off x="449468" y="6498001"/>
            <a:ext cx="2888788" cy="1692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/>
          <a:p>
            <a:pPr algn="l"/>
            <a:r>
              <a:rPr lang="en-US" altLang="ko-KR" sz="1100" b="0" dirty="0">
                <a:solidFill>
                  <a:schemeClr val="bg1">
                    <a:lumMod val="50000"/>
                  </a:schemeClr>
                </a:solidFill>
                <a:latin typeface="Samsung Sharp Sans Bold" pitchFamily="2" charset="0"/>
                <a:ea typeface="Samsung Sharp Sans Bold" pitchFamily="2" charset="0"/>
                <a:cs typeface="Samsung Sharp Sans Bold" pitchFamily="2" charset="0"/>
              </a:rPr>
              <a:t>Samsung Innovation Campus</a:t>
            </a:r>
          </a:p>
        </p:txBody>
      </p:sp>
    </p:spTree>
    <p:extLst>
      <p:ext uri="{BB962C8B-B14F-4D97-AF65-F5344CB8AC3E}">
        <p14:creationId xmlns:p14="http://schemas.microsoft.com/office/powerpoint/2010/main" val="17796214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614">
          <p15:clr>
            <a:srgbClr val="FBAE40"/>
          </p15:clr>
        </p15:guide>
        <p15:guide id="2" pos="443">
          <p15:clr>
            <a:srgbClr val="FBAE40"/>
          </p15:clr>
        </p15:guide>
        <p15:guide id="3" pos="5955">
          <p15:clr>
            <a:srgbClr val="FBAE40"/>
          </p15:clr>
        </p15:guide>
        <p15:guide id="4" pos="609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2825" cy="6858000"/>
          </a:xfrm>
          <a:prstGeom prst="rect">
            <a:avLst/>
          </a:prstGeom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107951CE-0A5B-4EC7-B663-290867B6A3B2}"/>
              </a:ext>
            </a:extLst>
          </p:cNvPr>
          <p:cNvCxnSpPr/>
          <p:nvPr userDrawn="1"/>
        </p:nvCxnSpPr>
        <p:spPr>
          <a:xfrm>
            <a:off x="449468" y="6424935"/>
            <a:ext cx="900071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슬라이드 번호 개체 틀 15">
            <a:extLst>
              <a:ext uri="{FF2B5EF4-FFF2-40B4-BE49-F238E27FC236}">
                <a16:creationId xmlns:a16="http://schemas.microsoft.com/office/drawing/2014/main" id="{DB8B1220-1660-457F-B990-656A8230EA54}"/>
              </a:ext>
            </a:extLst>
          </p:cNvPr>
          <p:cNvSpPr txBox="1">
            <a:spLocks/>
          </p:cNvSpPr>
          <p:nvPr userDrawn="1"/>
        </p:nvSpPr>
        <p:spPr>
          <a:xfrm>
            <a:off x="8836343" y="6498001"/>
            <a:ext cx="613839" cy="1384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defPPr>
              <a:defRPr lang="ko-KR"/>
            </a:defPPr>
            <a:lvl1pPr algn="r"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SamsungOne 300" panose="020B0303030303020204" pitchFamily="34" charset="0"/>
                <a:ea typeface="SamsungOne 300" panose="020B0303030303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r" defTabSz="91409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3977B04-C971-4466-AB79-612C9E649B30}" type="slidenum">
              <a:rPr lang="en-US" altLang="ko-KR" sz="900" smtClean="0">
                <a:solidFill>
                  <a:schemeClr val="bg1">
                    <a:lumMod val="50000"/>
                  </a:schemeClr>
                </a:solidFill>
                <a:latin typeface="SamsungOne 400" panose="020B0503030303020204" pitchFamily="34" charset="0"/>
                <a:ea typeface="SamsungOne 400" panose="020B0503030303020204" pitchFamily="34" charset="0"/>
              </a:rPr>
              <a:pPr marL="0" marR="0" lvl="0" indent="0" algn="r" defTabSz="914094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SamsungOne 400" panose="020B0503030303020204" pitchFamily="34" charset="0"/>
              <a:ea typeface="SamsungOne 400" panose="020B0503030303020204" pitchFamily="34" charset="0"/>
              <a:cs typeface="Arial Unicode MS" panose="020B0604020202020204" pitchFamily="50" charset="-127"/>
            </a:endParaRPr>
          </a:p>
        </p:txBody>
      </p:sp>
      <p:sp>
        <p:nvSpPr>
          <p:cNvPr id="14" name="직사각형 7">
            <a:extLst>
              <a:ext uri="{FF2B5EF4-FFF2-40B4-BE49-F238E27FC236}">
                <a16:creationId xmlns:a16="http://schemas.microsoft.com/office/drawing/2014/main" id="{AA07D337-B9C3-4E5E-811E-AEFBB17ADEF5}"/>
              </a:ext>
            </a:extLst>
          </p:cNvPr>
          <p:cNvSpPr/>
          <p:nvPr userDrawn="1"/>
        </p:nvSpPr>
        <p:spPr>
          <a:xfrm>
            <a:off x="449468" y="6498001"/>
            <a:ext cx="2888788" cy="1692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/>
          <a:p>
            <a:pPr algn="l"/>
            <a:r>
              <a:rPr lang="en-US" altLang="ko-KR" sz="1100" b="0" dirty="0">
                <a:solidFill>
                  <a:schemeClr val="bg1">
                    <a:lumMod val="50000"/>
                  </a:schemeClr>
                </a:solidFill>
                <a:latin typeface="Samsung Sharp Sans Bold" pitchFamily="2" charset="0"/>
                <a:ea typeface="Samsung Sharp Sans Bold" pitchFamily="2" charset="0"/>
                <a:cs typeface="Samsung Sharp Sans Bold" pitchFamily="2" charset="0"/>
              </a:rPr>
              <a:t>Samsung Innovation Campus</a:t>
            </a:r>
          </a:p>
        </p:txBody>
      </p:sp>
      <p:sp>
        <p:nvSpPr>
          <p:cNvPr id="7" name="슬라이드 번호 개체 틀 15">
            <a:extLst>
              <a:ext uri="{FF2B5EF4-FFF2-40B4-BE49-F238E27FC236}">
                <a16:creationId xmlns:a16="http://schemas.microsoft.com/office/drawing/2014/main" id="{E75758B0-2429-4331-898E-5EEED60D4280}"/>
              </a:ext>
            </a:extLst>
          </p:cNvPr>
          <p:cNvSpPr txBox="1">
            <a:spLocks/>
          </p:cNvSpPr>
          <p:nvPr userDrawn="1"/>
        </p:nvSpPr>
        <p:spPr>
          <a:xfrm>
            <a:off x="6846858" y="6498001"/>
            <a:ext cx="2349501" cy="1384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defPPr>
              <a:defRPr lang="ko-KR"/>
            </a:defPPr>
            <a:lvl1pPr algn="r"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SamsungOne 300" panose="020B0303030303020204" pitchFamily="34" charset="0"/>
                <a:ea typeface="SamsungOne 300" panose="020B0303030303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 defTabSz="914094" latinLnBrk="1">
              <a:defRPr/>
            </a:pP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Samsung Sharp Sans Medium" pitchFamily="2" charset="0"/>
                <a:ea typeface="Samsung Sharp Sans Medium" pitchFamily="2" charset="0"/>
                <a:cs typeface="Samsung Sharp Sans Medium" pitchFamily="2" charset="0"/>
              </a:rPr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39425025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5955">
          <p15:clr>
            <a:srgbClr val="FBAE40"/>
          </p15:clr>
        </p15:guide>
        <p15:guide id="3" pos="285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107951CE-0A5B-4EC7-B663-290867B6A3B2}"/>
              </a:ext>
            </a:extLst>
          </p:cNvPr>
          <p:cNvCxnSpPr/>
          <p:nvPr userDrawn="1"/>
        </p:nvCxnSpPr>
        <p:spPr>
          <a:xfrm>
            <a:off x="449468" y="6424935"/>
            <a:ext cx="900071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슬라이드 번호 개체 틀 15">
            <a:extLst>
              <a:ext uri="{FF2B5EF4-FFF2-40B4-BE49-F238E27FC236}">
                <a16:creationId xmlns:a16="http://schemas.microsoft.com/office/drawing/2014/main" id="{DB8B1220-1660-457F-B990-656A8230EA54}"/>
              </a:ext>
            </a:extLst>
          </p:cNvPr>
          <p:cNvSpPr txBox="1">
            <a:spLocks/>
          </p:cNvSpPr>
          <p:nvPr userDrawn="1"/>
        </p:nvSpPr>
        <p:spPr>
          <a:xfrm>
            <a:off x="8836343" y="6498001"/>
            <a:ext cx="613839" cy="1384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defPPr>
              <a:defRPr lang="ko-KR"/>
            </a:defPPr>
            <a:lvl1pPr algn="r"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SamsungOne 300" panose="020B0303030303020204" pitchFamily="34" charset="0"/>
                <a:ea typeface="SamsungOne 300" panose="020B0303030303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r" defTabSz="91409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3977B04-C971-4466-AB79-612C9E649B30}" type="slidenum">
              <a:rPr lang="en-US" altLang="ko-KR" sz="900" smtClean="0">
                <a:solidFill>
                  <a:schemeClr val="bg1">
                    <a:lumMod val="50000"/>
                  </a:schemeClr>
                </a:solidFill>
                <a:latin typeface="SamsungOne 400" panose="020B0503030303020204" pitchFamily="34" charset="0"/>
                <a:ea typeface="SamsungOne 400" panose="020B0503030303020204" pitchFamily="34" charset="0"/>
              </a:rPr>
              <a:pPr marL="0" marR="0" lvl="0" indent="0" algn="r" defTabSz="914094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SamsungOne 400" panose="020B0503030303020204" pitchFamily="34" charset="0"/>
              <a:ea typeface="SamsungOne 400" panose="020B0503030303020204" pitchFamily="34" charset="0"/>
              <a:cs typeface="Arial Unicode MS" panose="020B0604020202020204" pitchFamily="50" charset="-127"/>
            </a:endParaRPr>
          </a:p>
        </p:txBody>
      </p:sp>
      <p:sp>
        <p:nvSpPr>
          <p:cNvPr id="18" name="직사각형 7">
            <a:extLst>
              <a:ext uri="{FF2B5EF4-FFF2-40B4-BE49-F238E27FC236}">
                <a16:creationId xmlns:a16="http://schemas.microsoft.com/office/drawing/2014/main" id="{AA07D337-B9C3-4E5E-811E-AEFBB17ADEF5}"/>
              </a:ext>
            </a:extLst>
          </p:cNvPr>
          <p:cNvSpPr/>
          <p:nvPr userDrawn="1"/>
        </p:nvSpPr>
        <p:spPr>
          <a:xfrm>
            <a:off x="449468" y="6498001"/>
            <a:ext cx="2888788" cy="1692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/>
          <a:p>
            <a:pPr algn="l"/>
            <a:r>
              <a:rPr lang="en-US" altLang="ko-KR" sz="1100" b="0" dirty="0">
                <a:solidFill>
                  <a:schemeClr val="bg1">
                    <a:lumMod val="50000"/>
                  </a:schemeClr>
                </a:solidFill>
                <a:latin typeface="Samsung Sharp Sans Bold" pitchFamily="2" charset="0"/>
                <a:ea typeface="Samsung Sharp Sans Bold" pitchFamily="2" charset="0"/>
                <a:cs typeface="Samsung Sharp Sans Bold" pitchFamily="2" charset="0"/>
              </a:rPr>
              <a:t>Samsung Innovation Campus</a:t>
            </a:r>
          </a:p>
        </p:txBody>
      </p:sp>
      <p:cxnSp>
        <p:nvCxnSpPr>
          <p:cNvPr id="7" name="직선 연결선 6"/>
          <p:cNvCxnSpPr/>
          <p:nvPr userDrawn="1"/>
        </p:nvCxnSpPr>
        <p:spPr>
          <a:xfrm>
            <a:off x="449468" y="900000"/>
            <a:ext cx="9000714" cy="0"/>
          </a:xfrm>
          <a:prstGeom prst="line">
            <a:avLst/>
          </a:prstGeom>
          <a:ln w="15875">
            <a:solidFill>
              <a:srgbClr val="0924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슬라이드 번호 개체 틀 15">
            <a:extLst>
              <a:ext uri="{FF2B5EF4-FFF2-40B4-BE49-F238E27FC236}">
                <a16:creationId xmlns:a16="http://schemas.microsoft.com/office/drawing/2014/main" id="{C5960DC7-D671-485D-92B0-FEED6CE658A3}"/>
              </a:ext>
            </a:extLst>
          </p:cNvPr>
          <p:cNvSpPr txBox="1">
            <a:spLocks/>
          </p:cNvSpPr>
          <p:nvPr userDrawn="1"/>
        </p:nvSpPr>
        <p:spPr>
          <a:xfrm>
            <a:off x="6846858" y="6498001"/>
            <a:ext cx="2349501" cy="1384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defPPr>
              <a:defRPr lang="ko-KR"/>
            </a:defPPr>
            <a:lvl1pPr algn="r"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SamsungOne 300" panose="020B0303030303020204" pitchFamily="34" charset="0"/>
                <a:ea typeface="SamsungOne 300" panose="020B0303030303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 defTabSz="914094" latinLnBrk="1">
              <a:defRPr/>
            </a:pP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Samsung Sharp Sans Medium" pitchFamily="2" charset="0"/>
                <a:ea typeface="Samsung Sharp Sans Medium" pitchFamily="2" charset="0"/>
                <a:cs typeface="Samsung Sharp Sans Medium" pitchFamily="2" charset="0"/>
              </a:rPr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3439506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5">
          <p15:clr>
            <a:srgbClr val="FBAE40"/>
          </p15:clr>
        </p15:guide>
        <p15:guide id="3" pos="5955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a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2">
            <a:extLst>
              <a:ext uri="{FF2B5EF4-FFF2-40B4-BE49-F238E27FC236}">
                <a16:creationId xmlns:a16="http://schemas.microsoft.com/office/drawing/2014/main" id="{C441AFAB-5BBF-465C-B7A8-FED86E62617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4395"/>
            <a:ext cx="9899651" cy="6853605"/>
          </a:xfrm>
          <a:prstGeom prst="rect">
            <a:avLst/>
          </a:prstGeom>
        </p:spPr>
      </p:pic>
      <p:sp>
        <p:nvSpPr>
          <p:cNvPr id="2" name="직사각형 1"/>
          <p:cNvSpPr/>
          <p:nvPr userDrawn="1"/>
        </p:nvSpPr>
        <p:spPr>
          <a:xfrm>
            <a:off x="2" y="0"/>
            <a:ext cx="9899651" cy="6858000"/>
          </a:xfrm>
          <a:prstGeom prst="rect">
            <a:avLst/>
          </a:prstGeom>
          <a:solidFill>
            <a:srgbClr val="1428A0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959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82B242C-8600-47F0-98D5-6EA512C41BF2}"/>
              </a:ext>
            </a:extLst>
          </p:cNvPr>
          <p:cNvSpPr/>
          <p:nvPr userDrawn="1"/>
        </p:nvSpPr>
        <p:spPr>
          <a:xfrm>
            <a:off x="449468" y="5677032"/>
            <a:ext cx="9000714" cy="73096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/>
          <a:p>
            <a:pPr marL="0" marR="0" lvl="0" indent="0" algn="l" defTabSz="914126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msungOne 400C" panose="020B0506030303020204" pitchFamily="34" charset="0"/>
                <a:ea typeface="SamsungOne 400" panose="020B0503030303020204" pitchFamily="34" charset="0"/>
                <a:cs typeface="+mn-cs"/>
              </a:rPr>
              <a:t>ⓒ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msungOne 400C" panose="020B0506030303020204" pitchFamily="34" charset="0"/>
                <a:ea typeface="SamsungOne 400C" panose="020B0506030303020204" pitchFamily="34" charset="0"/>
                <a:cs typeface="+mn-cs"/>
              </a:rPr>
              <a:t>2023 SAMSUNG. All rights reserved.</a:t>
            </a:r>
          </a:p>
          <a:p>
            <a:pPr marL="0" marR="0" lvl="0" indent="0" algn="l" defTabSz="914126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msungOne 400C" panose="020B0506030303020204" pitchFamily="34" charset="0"/>
                <a:ea typeface="SamsungOne 400C" panose="020B0506030303020204" pitchFamily="34" charset="0"/>
                <a:cs typeface="+mn-cs"/>
              </a:rPr>
              <a:t>Samsung Electronics Corporate Citizenship Office holds the copyright of book.</a:t>
            </a:r>
          </a:p>
          <a:p>
            <a:pPr marL="0" marR="0" lvl="0" indent="0" algn="l" defTabSz="914126" rtl="0" eaLnBrk="1" fontAlgn="auto" latinLnBrk="1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msungOne 400C" panose="020B0506030303020204" pitchFamily="34" charset="0"/>
                <a:ea typeface="SamsungOne 400C" panose="020B0506030303020204" pitchFamily="34" charset="0"/>
                <a:cs typeface="+mn-cs"/>
              </a:rPr>
              <a:t>This book is a literary property protected by copyright law so reprint and reproduction without permission are prohibited. </a:t>
            </a:r>
          </a:p>
          <a:p>
            <a:pPr marL="0" marR="0" lvl="0" indent="0" algn="l" defTabSz="914126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msungOne 400C" panose="020B0506030303020204" pitchFamily="34" charset="0"/>
                <a:ea typeface="SamsungOne 400C" panose="020B0506030303020204" pitchFamily="34" charset="0"/>
                <a:cs typeface="+mn-cs"/>
              </a:rPr>
              <a:t>To use this book other than the curriculum of Samsung Innovation Campus or to use the entire or part of this book, you must receive written consent from copyright holder.</a:t>
            </a:r>
          </a:p>
        </p:txBody>
      </p:sp>
      <p:pic>
        <p:nvPicPr>
          <p:cNvPr id="10" name="그림 3">
            <a:extLst>
              <a:ext uri="{FF2B5EF4-FFF2-40B4-BE49-F238E27FC236}">
                <a16:creationId xmlns:a16="http://schemas.microsoft.com/office/drawing/2014/main" id="{A977D3D7-ABF1-4BDD-B1E5-CCA79CC8184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1822" y="3022951"/>
            <a:ext cx="2476006" cy="812098"/>
          </a:xfrm>
          <a:prstGeom prst="rect">
            <a:avLst/>
          </a:prstGeom>
        </p:spPr>
      </p:pic>
      <p:sp>
        <p:nvSpPr>
          <p:cNvPr id="9" name="Freeform 5">
            <a:extLst>
              <a:ext uri="{FF2B5EF4-FFF2-40B4-BE49-F238E27FC236}">
                <a16:creationId xmlns:a16="http://schemas.microsoft.com/office/drawing/2014/main" id="{0D8AEED9-5E8F-4A4F-8427-AE314BEC60F8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449468" y="450000"/>
            <a:ext cx="1290568" cy="198000"/>
          </a:xfrm>
          <a:custGeom>
            <a:avLst/>
            <a:gdLst>
              <a:gd name="T0" fmla="*/ 82 w 2179"/>
              <a:gd name="T1" fmla="*/ 74 h 334"/>
              <a:gd name="T2" fmla="*/ 140 w 2179"/>
              <a:gd name="T3" fmla="*/ 82 h 334"/>
              <a:gd name="T4" fmla="*/ 218 w 2179"/>
              <a:gd name="T5" fmla="*/ 101 h 334"/>
              <a:gd name="T6" fmla="*/ 112 w 2179"/>
              <a:gd name="T7" fmla="*/ 0 h 334"/>
              <a:gd name="T8" fmla="*/ 4 w 2179"/>
              <a:gd name="T9" fmla="*/ 112 h 334"/>
              <a:gd name="T10" fmla="*/ 145 w 2179"/>
              <a:gd name="T11" fmla="*/ 257 h 334"/>
              <a:gd name="T12" fmla="*/ 84 w 2179"/>
              <a:gd name="T13" fmla="*/ 250 h 334"/>
              <a:gd name="T14" fmla="*/ 0 w 2179"/>
              <a:gd name="T15" fmla="*/ 220 h 334"/>
              <a:gd name="T16" fmla="*/ 113 w 2179"/>
              <a:gd name="T17" fmla="*/ 334 h 334"/>
              <a:gd name="T18" fmla="*/ 223 w 2179"/>
              <a:gd name="T19" fmla="*/ 212 h 334"/>
              <a:gd name="T20" fmla="*/ 1096 w 2179"/>
              <a:gd name="T21" fmla="*/ 91 h 334"/>
              <a:gd name="T22" fmla="*/ 1124 w 2179"/>
              <a:gd name="T23" fmla="*/ 54 h 334"/>
              <a:gd name="T24" fmla="*/ 1152 w 2179"/>
              <a:gd name="T25" fmla="*/ 102 h 334"/>
              <a:gd name="T26" fmla="*/ 1229 w 2179"/>
              <a:gd name="T27" fmla="*/ 80 h 334"/>
              <a:gd name="T28" fmla="*/ 1017 w 2179"/>
              <a:gd name="T29" fmla="*/ 71 h 334"/>
              <a:gd name="T30" fmla="*/ 1157 w 2179"/>
              <a:gd name="T31" fmla="*/ 233 h 334"/>
              <a:gd name="T32" fmla="*/ 1128 w 2179"/>
              <a:gd name="T33" fmla="*/ 277 h 334"/>
              <a:gd name="T34" fmla="*/ 1097 w 2179"/>
              <a:gd name="T35" fmla="*/ 219 h 334"/>
              <a:gd name="T36" fmla="*/ 1014 w 2179"/>
              <a:gd name="T37" fmla="*/ 243 h 334"/>
              <a:gd name="T38" fmla="*/ 1235 w 2179"/>
              <a:gd name="T39" fmla="*/ 262 h 334"/>
              <a:gd name="T40" fmla="*/ 1096 w 2179"/>
              <a:gd name="T41" fmla="*/ 91 h 334"/>
              <a:gd name="T42" fmla="*/ 1730 w 2179"/>
              <a:gd name="T43" fmla="*/ 10 h 334"/>
              <a:gd name="T44" fmla="*/ 1614 w 2179"/>
              <a:gd name="T45" fmla="*/ 319 h 334"/>
              <a:gd name="T46" fmla="*/ 1686 w 2179"/>
              <a:gd name="T47" fmla="*/ 60 h 334"/>
              <a:gd name="T48" fmla="*/ 1876 w 2179"/>
              <a:gd name="T49" fmla="*/ 319 h 334"/>
              <a:gd name="T50" fmla="*/ 1799 w 2179"/>
              <a:gd name="T51" fmla="*/ 10 h 334"/>
              <a:gd name="T52" fmla="*/ 333 w 2179"/>
              <a:gd name="T53" fmla="*/ 10 h 334"/>
              <a:gd name="T54" fmla="*/ 360 w 2179"/>
              <a:gd name="T55" fmla="*/ 322 h 334"/>
              <a:gd name="T56" fmla="*/ 446 w 2179"/>
              <a:gd name="T57" fmla="*/ 322 h 334"/>
              <a:gd name="T58" fmla="*/ 472 w 2179"/>
              <a:gd name="T59" fmla="*/ 10 h 334"/>
              <a:gd name="T60" fmla="*/ 804 w 2179"/>
              <a:gd name="T61" fmla="*/ 10 h 334"/>
              <a:gd name="T62" fmla="*/ 725 w 2179"/>
              <a:gd name="T63" fmla="*/ 10 h 334"/>
              <a:gd name="T64" fmla="*/ 592 w 2179"/>
              <a:gd name="T65" fmla="*/ 322 h 334"/>
              <a:gd name="T66" fmla="*/ 671 w 2179"/>
              <a:gd name="T67" fmla="*/ 33 h 334"/>
              <a:gd name="T68" fmla="*/ 804 w 2179"/>
              <a:gd name="T69" fmla="*/ 322 h 334"/>
              <a:gd name="T70" fmla="*/ 860 w 2179"/>
              <a:gd name="T71" fmla="*/ 322 h 334"/>
              <a:gd name="T72" fmla="*/ 931 w 2179"/>
              <a:gd name="T73" fmla="*/ 10 h 334"/>
              <a:gd name="T74" fmla="*/ 1528 w 2179"/>
              <a:gd name="T75" fmla="*/ 10 h 334"/>
              <a:gd name="T76" fmla="*/ 1449 w 2179"/>
              <a:gd name="T77" fmla="*/ 241 h 334"/>
              <a:gd name="T78" fmla="*/ 1418 w 2179"/>
              <a:gd name="T79" fmla="*/ 275 h 334"/>
              <a:gd name="T80" fmla="*/ 1388 w 2179"/>
              <a:gd name="T81" fmla="*/ 241 h 334"/>
              <a:gd name="T82" fmla="*/ 1309 w 2179"/>
              <a:gd name="T83" fmla="*/ 10 h 334"/>
              <a:gd name="T84" fmla="*/ 1310 w 2179"/>
              <a:gd name="T85" fmla="*/ 254 h 334"/>
              <a:gd name="T86" fmla="*/ 1527 w 2179"/>
              <a:gd name="T87" fmla="*/ 254 h 334"/>
              <a:gd name="T88" fmla="*/ 1528 w 2179"/>
              <a:gd name="T89" fmla="*/ 10 h 334"/>
              <a:gd name="T90" fmla="*/ 2069 w 2179"/>
              <a:gd name="T91" fmla="*/ 192 h 334"/>
              <a:gd name="T92" fmla="*/ 2101 w 2179"/>
              <a:gd name="T93" fmla="*/ 237 h 334"/>
              <a:gd name="T94" fmla="*/ 2068 w 2179"/>
              <a:gd name="T95" fmla="*/ 272 h 334"/>
              <a:gd name="T96" fmla="*/ 2035 w 2179"/>
              <a:gd name="T97" fmla="*/ 237 h 334"/>
              <a:gd name="T98" fmla="*/ 2037 w 2179"/>
              <a:gd name="T99" fmla="*/ 80 h 334"/>
              <a:gd name="T100" fmla="*/ 2099 w 2179"/>
              <a:gd name="T101" fmla="*/ 80 h 334"/>
              <a:gd name="T102" fmla="*/ 2100 w 2179"/>
              <a:gd name="T103" fmla="*/ 110 h 334"/>
              <a:gd name="T104" fmla="*/ 2178 w 2179"/>
              <a:gd name="T105" fmla="*/ 99 h 334"/>
              <a:gd name="T106" fmla="*/ 2068 w 2179"/>
              <a:gd name="T107" fmla="*/ 2 h 334"/>
              <a:gd name="T108" fmla="*/ 1958 w 2179"/>
              <a:gd name="T109" fmla="*/ 99 h 334"/>
              <a:gd name="T110" fmla="*/ 1959 w 2179"/>
              <a:gd name="T111" fmla="*/ 251 h 334"/>
              <a:gd name="T112" fmla="*/ 2178 w 2179"/>
              <a:gd name="T113" fmla="*/ 251 h 334"/>
              <a:gd name="T114" fmla="*/ 2179 w 2179"/>
              <a:gd name="T115" fmla="*/ 147 h 3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2179" h="334">
                <a:moveTo>
                  <a:pt x="83" y="91"/>
                </a:moveTo>
                <a:cubicBezTo>
                  <a:pt x="81" y="84"/>
                  <a:pt x="82" y="78"/>
                  <a:pt x="82" y="74"/>
                </a:cubicBezTo>
                <a:cubicBezTo>
                  <a:pt x="84" y="64"/>
                  <a:pt x="91" y="53"/>
                  <a:pt x="111" y="53"/>
                </a:cubicBezTo>
                <a:cubicBezTo>
                  <a:pt x="129" y="53"/>
                  <a:pt x="140" y="65"/>
                  <a:pt x="140" y="82"/>
                </a:cubicBezTo>
                <a:cubicBezTo>
                  <a:pt x="140" y="101"/>
                  <a:pt x="140" y="101"/>
                  <a:pt x="140" y="101"/>
                </a:cubicBezTo>
                <a:cubicBezTo>
                  <a:pt x="218" y="101"/>
                  <a:pt x="218" y="101"/>
                  <a:pt x="218" y="101"/>
                </a:cubicBezTo>
                <a:cubicBezTo>
                  <a:pt x="218" y="79"/>
                  <a:pt x="218" y="79"/>
                  <a:pt x="218" y="79"/>
                </a:cubicBezTo>
                <a:cubicBezTo>
                  <a:pt x="218" y="11"/>
                  <a:pt x="156" y="0"/>
                  <a:pt x="112" y="0"/>
                </a:cubicBezTo>
                <a:cubicBezTo>
                  <a:pt x="57" y="0"/>
                  <a:pt x="12" y="19"/>
                  <a:pt x="4" y="70"/>
                </a:cubicBezTo>
                <a:cubicBezTo>
                  <a:pt x="1" y="84"/>
                  <a:pt x="1" y="96"/>
                  <a:pt x="4" y="112"/>
                </a:cubicBezTo>
                <a:cubicBezTo>
                  <a:pt x="18" y="175"/>
                  <a:pt x="128" y="194"/>
                  <a:pt x="145" y="234"/>
                </a:cubicBezTo>
                <a:cubicBezTo>
                  <a:pt x="148" y="241"/>
                  <a:pt x="147" y="251"/>
                  <a:pt x="145" y="257"/>
                </a:cubicBezTo>
                <a:cubicBezTo>
                  <a:pt x="143" y="267"/>
                  <a:pt x="136" y="278"/>
                  <a:pt x="115" y="278"/>
                </a:cubicBezTo>
                <a:cubicBezTo>
                  <a:pt x="95" y="278"/>
                  <a:pt x="84" y="267"/>
                  <a:pt x="84" y="250"/>
                </a:cubicBezTo>
                <a:cubicBezTo>
                  <a:pt x="83" y="220"/>
                  <a:pt x="83" y="220"/>
                  <a:pt x="83" y="220"/>
                </a:cubicBezTo>
                <a:cubicBezTo>
                  <a:pt x="0" y="220"/>
                  <a:pt x="0" y="220"/>
                  <a:pt x="0" y="220"/>
                </a:cubicBezTo>
                <a:cubicBezTo>
                  <a:pt x="0" y="244"/>
                  <a:pt x="0" y="244"/>
                  <a:pt x="0" y="244"/>
                </a:cubicBezTo>
                <a:cubicBezTo>
                  <a:pt x="0" y="313"/>
                  <a:pt x="55" y="334"/>
                  <a:pt x="113" y="334"/>
                </a:cubicBezTo>
                <a:cubicBezTo>
                  <a:pt x="169" y="334"/>
                  <a:pt x="216" y="315"/>
                  <a:pt x="223" y="263"/>
                </a:cubicBezTo>
                <a:cubicBezTo>
                  <a:pt x="227" y="236"/>
                  <a:pt x="224" y="218"/>
                  <a:pt x="223" y="212"/>
                </a:cubicBezTo>
                <a:cubicBezTo>
                  <a:pt x="210" y="146"/>
                  <a:pt x="92" y="127"/>
                  <a:pt x="83" y="91"/>
                </a:cubicBezTo>
                <a:moveTo>
                  <a:pt x="1096" y="91"/>
                </a:moveTo>
                <a:cubicBezTo>
                  <a:pt x="1094" y="85"/>
                  <a:pt x="1095" y="79"/>
                  <a:pt x="1096" y="75"/>
                </a:cubicBezTo>
                <a:cubicBezTo>
                  <a:pt x="1098" y="65"/>
                  <a:pt x="1104" y="54"/>
                  <a:pt x="1124" y="54"/>
                </a:cubicBezTo>
                <a:cubicBezTo>
                  <a:pt x="1142" y="54"/>
                  <a:pt x="1152" y="66"/>
                  <a:pt x="1152" y="82"/>
                </a:cubicBezTo>
                <a:cubicBezTo>
                  <a:pt x="1152" y="102"/>
                  <a:pt x="1152" y="102"/>
                  <a:pt x="1152" y="102"/>
                </a:cubicBezTo>
                <a:cubicBezTo>
                  <a:pt x="1229" y="102"/>
                  <a:pt x="1229" y="102"/>
                  <a:pt x="1229" y="102"/>
                </a:cubicBezTo>
                <a:cubicBezTo>
                  <a:pt x="1229" y="80"/>
                  <a:pt x="1229" y="80"/>
                  <a:pt x="1229" y="80"/>
                </a:cubicBezTo>
                <a:cubicBezTo>
                  <a:pt x="1229" y="13"/>
                  <a:pt x="1169" y="2"/>
                  <a:pt x="1125" y="2"/>
                </a:cubicBezTo>
                <a:cubicBezTo>
                  <a:pt x="1070" y="2"/>
                  <a:pt x="1026" y="20"/>
                  <a:pt x="1017" y="71"/>
                </a:cubicBezTo>
                <a:cubicBezTo>
                  <a:pt x="1015" y="84"/>
                  <a:pt x="1015" y="97"/>
                  <a:pt x="1018" y="112"/>
                </a:cubicBezTo>
                <a:cubicBezTo>
                  <a:pt x="1032" y="175"/>
                  <a:pt x="1141" y="193"/>
                  <a:pt x="1157" y="233"/>
                </a:cubicBezTo>
                <a:cubicBezTo>
                  <a:pt x="1160" y="241"/>
                  <a:pt x="1159" y="250"/>
                  <a:pt x="1158" y="256"/>
                </a:cubicBezTo>
                <a:cubicBezTo>
                  <a:pt x="1155" y="267"/>
                  <a:pt x="1148" y="277"/>
                  <a:pt x="1128" y="277"/>
                </a:cubicBezTo>
                <a:cubicBezTo>
                  <a:pt x="1108" y="277"/>
                  <a:pt x="1097" y="266"/>
                  <a:pt x="1097" y="249"/>
                </a:cubicBezTo>
                <a:cubicBezTo>
                  <a:pt x="1097" y="219"/>
                  <a:pt x="1097" y="219"/>
                  <a:pt x="1097" y="219"/>
                </a:cubicBezTo>
                <a:cubicBezTo>
                  <a:pt x="1014" y="219"/>
                  <a:pt x="1014" y="219"/>
                  <a:pt x="1014" y="219"/>
                </a:cubicBezTo>
                <a:cubicBezTo>
                  <a:pt x="1014" y="243"/>
                  <a:pt x="1014" y="243"/>
                  <a:pt x="1014" y="243"/>
                </a:cubicBezTo>
                <a:cubicBezTo>
                  <a:pt x="1014" y="312"/>
                  <a:pt x="1068" y="332"/>
                  <a:pt x="1126" y="332"/>
                </a:cubicBezTo>
                <a:cubicBezTo>
                  <a:pt x="1182" y="332"/>
                  <a:pt x="1228" y="313"/>
                  <a:pt x="1235" y="262"/>
                </a:cubicBezTo>
                <a:cubicBezTo>
                  <a:pt x="1238" y="235"/>
                  <a:pt x="1236" y="218"/>
                  <a:pt x="1234" y="211"/>
                </a:cubicBezTo>
                <a:cubicBezTo>
                  <a:pt x="1221" y="147"/>
                  <a:pt x="1105" y="127"/>
                  <a:pt x="1096" y="91"/>
                </a:cubicBezTo>
                <a:moveTo>
                  <a:pt x="1803" y="261"/>
                </a:moveTo>
                <a:cubicBezTo>
                  <a:pt x="1730" y="10"/>
                  <a:pt x="1730" y="10"/>
                  <a:pt x="1730" y="10"/>
                </a:cubicBezTo>
                <a:cubicBezTo>
                  <a:pt x="1614" y="10"/>
                  <a:pt x="1614" y="10"/>
                  <a:pt x="1614" y="10"/>
                </a:cubicBezTo>
                <a:cubicBezTo>
                  <a:pt x="1614" y="319"/>
                  <a:pt x="1614" y="319"/>
                  <a:pt x="1614" y="319"/>
                </a:cubicBezTo>
                <a:cubicBezTo>
                  <a:pt x="1691" y="319"/>
                  <a:pt x="1691" y="319"/>
                  <a:pt x="1691" y="319"/>
                </a:cubicBezTo>
                <a:cubicBezTo>
                  <a:pt x="1686" y="60"/>
                  <a:pt x="1686" y="60"/>
                  <a:pt x="1686" y="60"/>
                </a:cubicBezTo>
                <a:cubicBezTo>
                  <a:pt x="1765" y="319"/>
                  <a:pt x="1765" y="319"/>
                  <a:pt x="1765" y="319"/>
                </a:cubicBezTo>
                <a:cubicBezTo>
                  <a:pt x="1876" y="319"/>
                  <a:pt x="1876" y="319"/>
                  <a:pt x="1876" y="319"/>
                </a:cubicBezTo>
                <a:cubicBezTo>
                  <a:pt x="1876" y="10"/>
                  <a:pt x="1876" y="10"/>
                  <a:pt x="1876" y="10"/>
                </a:cubicBezTo>
                <a:cubicBezTo>
                  <a:pt x="1799" y="10"/>
                  <a:pt x="1799" y="10"/>
                  <a:pt x="1799" y="10"/>
                </a:cubicBezTo>
                <a:lnTo>
                  <a:pt x="1803" y="261"/>
                </a:lnTo>
                <a:close/>
                <a:moveTo>
                  <a:pt x="333" y="10"/>
                </a:moveTo>
                <a:cubicBezTo>
                  <a:pt x="276" y="322"/>
                  <a:pt x="276" y="322"/>
                  <a:pt x="276" y="322"/>
                </a:cubicBezTo>
                <a:cubicBezTo>
                  <a:pt x="360" y="322"/>
                  <a:pt x="360" y="322"/>
                  <a:pt x="360" y="322"/>
                </a:cubicBezTo>
                <a:cubicBezTo>
                  <a:pt x="403" y="33"/>
                  <a:pt x="403" y="33"/>
                  <a:pt x="403" y="33"/>
                </a:cubicBezTo>
                <a:cubicBezTo>
                  <a:pt x="446" y="322"/>
                  <a:pt x="446" y="322"/>
                  <a:pt x="446" y="322"/>
                </a:cubicBezTo>
                <a:cubicBezTo>
                  <a:pt x="529" y="322"/>
                  <a:pt x="529" y="322"/>
                  <a:pt x="529" y="322"/>
                </a:cubicBezTo>
                <a:cubicBezTo>
                  <a:pt x="472" y="10"/>
                  <a:pt x="472" y="10"/>
                  <a:pt x="472" y="10"/>
                </a:cubicBezTo>
                <a:lnTo>
                  <a:pt x="333" y="10"/>
                </a:lnTo>
                <a:close/>
                <a:moveTo>
                  <a:pt x="804" y="10"/>
                </a:moveTo>
                <a:cubicBezTo>
                  <a:pt x="765" y="254"/>
                  <a:pt x="765" y="254"/>
                  <a:pt x="765" y="254"/>
                </a:cubicBezTo>
                <a:cubicBezTo>
                  <a:pt x="725" y="10"/>
                  <a:pt x="725" y="10"/>
                  <a:pt x="725" y="10"/>
                </a:cubicBezTo>
                <a:cubicBezTo>
                  <a:pt x="598" y="10"/>
                  <a:pt x="598" y="10"/>
                  <a:pt x="598" y="10"/>
                </a:cubicBezTo>
                <a:cubicBezTo>
                  <a:pt x="592" y="322"/>
                  <a:pt x="592" y="322"/>
                  <a:pt x="592" y="322"/>
                </a:cubicBezTo>
                <a:cubicBezTo>
                  <a:pt x="669" y="322"/>
                  <a:pt x="669" y="322"/>
                  <a:pt x="669" y="322"/>
                </a:cubicBezTo>
                <a:cubicBezTo>
                  <a:pt x="671" y="33"/>
                  <a:pt x="671" y="33"/>
                  <a:pt x="671" y="33"/>
                </a:cubicBezTo>
                <a:cubicBezTo>
                  <a:pt x="725" y="322"/>
                  <a:pt x="725" y="322"/>
                  <a:pt x="725" y="322"/>
                </a:cubicBezTo>
                <a:cubicBezTo>
                  <a:pt x="804" y="322"/>
                  <a:pt x="804" y="322"/>
                  <a:pt x="804" y="322"/>
                </a:cubicBezTo>
                <a:cubicBezTo>
                  <a:pt x="858" y="33"/>
                  <a:pt x="858" y="33"/>
                  <a:pt x="858" y="33"/>
                </a:cubicBezTo>
                <a:cubicBezTo>
                  <a:pt x="860" y="322"/>
                  <a:pt x="860" y="322"/>
                  <a:pt x="860" y="322"/>
                </a:cubicBezTo>
                <a:cubicBezTo>
                  <a:pt x="938" y="322"/>
                  <a:pt x="938" y="322"/>
                  <a:pt x="938" y="322"/>
                </a:cubicBezTo>
                <a:cubicBezTo>
                  <a:pt x="931" y="10"/>
                  <a:pt x="931" y="10"/>
                  <a:pt x="931" y="10"/>
                </a:cubicBezTo>
                <a:lnTo>
                  <a:pt x="804" y="10"/>
                </a:lnTo>
                <a:close/>
                <a:moveTo>
                  <a:pt x="1528" y="10"/>
                </a:moveTo>
                <a:cubicBezTo>
                  <a:pt x="1449" y="10"/>
                  <a:pt x="1449" y="10"/>
                  <a:pt x="1449" y="10"/>
                </a:cubicBezTo>
                <a:cubicBezTo>
                  <a:pt x="1449" y="241"/>
                  <a:pt x="1449" y="241"/>
                  <a:pt x="1449" y="241"/>
                </a:cubicBezTo>
                <a:cubicBezTo>
                  <a:pt x="1449" y="245"/>
                  <a:pt x="1449" y="249"/>
                  <a:pt x="1448" y="253"/>
                </a:cubicBezTo>
                <a:cubicBezTo>
                  <a:pt x="1447" y="260"/>
                  <a:pt x="1440" y="275"/>
                  <a:pt x="1418" y="275"/>
                </a:cubicBezTo>
                <a:cubicBezTo>
                  <a:pt x="1397" y="275"/>
                  <a:pt x="1390" y="260"/>
                  <a:pt x="1389" y="253"/>
                </a:cubicBezTo>
                <a:cubicBezTo>
                  <a:pt x="1388" y="249"/>
                  <a:pt x="1388" y="245"/>
                  <a:pt x="1388" y="241"/>
                </a:cubicBezTo>
                <a:cubicBezTo>
                  <a:pt x="1388" y="10"/>
                  <a:pt x="1388" y="10"/>
                  <a:pt x="1388" y="10"/>
                </a:cubicBezTo>
                <a:cubicBezTo>
                  <a:pt x="1309" y="10"/>
                  <a:pt x="1309" y="10"/>
                  <a:pt x="1309" y="10"/>
                </a:cubicBezTo>
                <a:cubicBezTo>
                  <a:pt x="1309" y="234"/>
                  <a:pt x="1309" y="234"/>
                  <a:pt x="1309" y="234"/>
                </a:cubicBezTo>
                <a:cubicBezTo>
                  <a:pt x="1309" y="239"/>
                  <a:pt x="1309" y="251"/>
                  <a:pt x="1310" y="254"/>
                </a:cubicBezTo>
                <a:cubicBezTo>
                  <a:pt x="1315" y="312"/>
                  <a:pt x="1361" y="331"/>
                  <a:pt x="1418" y="331"/>
                </a:cubicBezTo>
                <a:cubicBezTo>
                  <a:pt x="1476" y="331"/>
                  <a:pt x="1522" y="312"/>
                  <a:pt x="1527" y="254"/>
                </a:cubicBezTo>
                <a:cubicBezTo>
                  <a:pt x="1528" y="251"/>
                  <a:pt x="1528" y="239"/>
                  <a:pt x="1528" y="234"/>
                </a:cubicBezTo>
                <a:lnTo>
                  <a:pt x="1528" y="10"/>
                </a:lnTo>
                <a:close/>
                <a:moveTo>
                  <a:pt x="2069" y="147"/>
                </a:moveTo>
                <a:cubicBezTo>
                  <a:pt x="2069" y="192"/>
                  <a:pt x="2069" y="192"/>
                  <a:pt x="2069" y="192"/>
                </a:cubicBezTo>
                <a:cubicBezTo>
                  <a:pt x="2101" y="192"/>
                  <a:pt x="2101" y="192"/>
                  <a:pt x="2101" y="192"/>
                </a:cubicBezTo>
                <a:cubicBezTo>
                  <a:pt x="2101" y="237"/>
                  <a:pt x="2101" y="237"/>
                  <a:pt x="2101" y="237"/>
                </a:cubicBezTo>
                <a:cubicBezTo>
                  <a:pt x="2101" y="241"/>
                  <a:pt x="2101" y="246"/>
                  <a:pt x="2100" y="249"/>
                </a:cubicBezTo>
                <a:cubicBezTo>
                  <a:pt x="2099" y="258"/>
                  <a:pt x="2091" y="272"/>
                  <a:pt x="2068" y="272"/>
                </a:cubicBezTo>
                <a:cubicBezTo>
                  <a:pt x="2045" y="272"/>
                  <a:pt x="2038" y="258"/>
                  <a:pt x="2036" y="249"/>
                </a:cubicBezTo>
                <a:cubicBezTo>
                  <a:pt x="2036" y="246"/>
                  <a:pt x="2035" y="241"/>
                  <a:pt x="2035" y="237"/>
                </a:cubicBezTo>
                <a:cubicBezTo>
                  <a:pt x="2035" y="95"/>
                  <a:pt x="2035" y="95"/>
                  <a:pt x="2035" y="95"/>
                </a:cubicBezTo>
                <a:cubicBezTo>
                  <a:pt x="2035" y="90"/>
                  <a:pt x="2036" y="85"/>
                  <a:pt x="2037" y="80"/>
                </a:cubicBezTo>
                <a:cubicBezTo>
                  <a:pt x="2038" y="73"/>
                  <a:pt x="2045" y="58"/>
                  <a:pt x="2068" y="58"/>
                </a:cubicBezTo>
                <a:cubicBezTo>
                  <a:pt x="2092" y="58"/>
                  <a:pt x="2098" y="74"/>
                  <a:pt x="2099" y="80"/>
                </a:cubicBezTo>
                <a:cubicBezTo>
                  <a:pt x="2100" y="85"/>
                  <a:pt x="2100" y="92"/>
                  <a:pt x="2100" y="92"/>
                </a:cubicBezTo>
                <a:cubicBezTo>
                  <a:pt x="2100" y="110"/>
                  <a:pt x="2100" y="110"/>
                  <a:pt x="2100" y="110"/>
                </a:cubicBezTo>
                <a:cubicBezTo>
                  <a:pt x="2178" y="110"/>
                  <a:pt x="2178" y="110"/>
                  <a:pt x="2178" y="110"/>
                </a:cubicBezTo>
                <a:cubicBezTo>
                  <a:pt x="2178" y="99"/>
                  <a:pt x="2178" y="99"/>
                  <a:pt x="2178" y="99"/>
                </a:cubicBezTo>
                <a:cubicBezTo>
                  <a:pt x="2178" y="99"/>
                  <a:pt x="2179" y="89"/>
                  <a:pt x="2178" y="79"/>
                </a:cubicBezTo>
                <a:cubicBezTo>
                  <a:pt x="2172" y="20"/>
                  <a:pt x="2124" y="2"/>
                  <a:pt x="2068" y="2"/>
                </a:cubicBezTo>
                <a:cubicBezTo>
                  <a:pt x="2013" y="2"/>
                  <a:pt x="1966" y="21"/>
                  <a:pt x="1959" y="79"/>
                </a:cubicBezTo>
                <a:cubicBezTo>
                  <a:pt x="1958" y="84"/>
                  <a:pt x="1958" y="94"/>
                  <a:pt x="1958" y="99"/>
                </a:cubicBezTo>
                <a:cubicBezTo>
                  <a:pt x="1958" y="230"/>
                  <a:pt x="1958" y="230"/>
                  <a:pt x="1958" y="230"/>
                </a:cubicBezTo>
                <a:cubicBezTo>
                  <a:pt x="1958" y="236"/>
                  <a:pt x="1958" y="241"/>
                  <a:pt x="1959" y="251"/>
                </a:cubicBezTo>
                <a:cubicBezTo>
                  <a:pt x="1964" y="308"/>
                  <a:pt x="2013" y="328"/>
                  <a:pt x="2068" y="328"/>
                </a:cubicBezTo>
                <a:cubicBezTo>
                  <a:pt x="2124" y="328"/>
                  <a:pt x="2173" y="308"/>
                  <a:pt x="2178" y="251"/>
                </a:cubicBezTo>
                <a:cubicBezTo>
                  <a:pt x="2179" y="241"/>
                  <a:pt x="2179" y="236"/>
                  <a:pt x="2179" y="230"/>
                </a:cubicBezTo>
                <a:cubicBezTo>
                  <a:pt x="2179" y="147"/>
                  <a:pt x="2179" y="147"/>
                  <a:pt x="2179" y="147"/>
                </a:cubicBezTo>
                <a:lnTo>
                  <a:pt x="2069" y="14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11" tIns="45705" rIns="91411" bIns="45705" numCol="1" anchor="t" anchorCtr="0" compatLnSpc="1">
            <a:prstTxWarp prst="textNoShape">
              <a:avLst/>
            </a:prstTxWarp>
            <a:scene3d>
              <a:camera prst="orthographicFront"/>
              <a:lightRig rig="threePt" dir="t"/>
            </a:scene3d>
            <a:sp3d>
              <a:bevelT w="0" h="6350"/>
            </a:sp3d>
          </a:bodyPr>
          <a:lstStyle/>
          <a:p>
            <a:pPr marL="0" marR="0" lvl="0" indent="0" algn="l" defTabSz="914126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sz="1959" noProof="0" dirty="0"/>
          </a:p>
        </p:txBody>
      </p:sp>
    </p:spTree>
    <p:extLst>
      <p:ext uri="{BB962C8B-B14F-4D97-AF65-F5344CB8AC3E}">
        <p14:creationId xmlns:p14="http://schemas.microsoft.com/office/powerpoint/2010/main" val="12278341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ody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2825" cy="6858000"/>
          </a:xfrm>
          <a:prstGeom prst="rect">
            <a:avLst/>
          </a:prstGeom>
        </p:spPr>
      </p:pic>
      <p:sp>
        <p:nvSpPr>
          <p:cNvPr id="5" name="Freeform 5">
            <a:extLst>
              <a:ext uri="{FF2B5EF4-FFF2-40B4-BE49-F238E27FC236}">
                <a16:creationId xmlns:a16="http://schemas.microsoft.com/office/drawing/2014/main" id="{0D8AEED9-5E8F-4A4F-8427-AE314BEC60F8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449468" y="450000"/>
            <a:ext cx="1282022" cy="198000"/>
          </a:xfrm>
          <a:custGeom>
            <a:avLst/>
            <a:gdLst>
              <a:gd name="T0" fmla="*/ 82 w 2179"/>
              <a:gd name="T1" fmla="*/ 74 h 334"/>
              <a:gd name="T2" fmla="*/ 140 w 2179"/>
              <a:gd name="T3" fmla="*/ 82 h 334"/>
              <a:gd name="T4" fmla="*/ 218 w 2179"/>
              <a:gd name="T5" fmla="*/ 101 h 334"/>
              <a:gd name="T6" fmla="*/ 112 w 2179"/>
              <a:gd name="T7" fmla="*/ 0 h 334"/>
              <a:gd name="T8" fmla="*/ 4 w 2179"/>
              <a:gd name="T9" fmla="*/ 112 h 334"/>
              <a:gd name="T10" fmla="*/ 145 w 2179"/>
              <a:gd name="T11" fmla="*/ 257 h 334"/>
              <a:gd name="T12" fmla="*/ 84 w 2179"/>
              <a:gd name="T13" fmla="*/ 250 h 334"/>
              <a:gd name="T14" fmla="*/ 0 w 2179"/>
              <a:gd name="T15" fmla="*/ 220 h 334"/>
              <a:gd name="T16" fmla="*/ 113 w 2179"/>
              <a:gd name="T17" fmla="*/ 334 h 334"/>
              <a:gd name="T18" fmla="*/ 223 w 2179"/>
              <a:gd name="T19" fmla="*/ 212 h 334"/>
              <a:gd name="T20" fmla="*/ 1096 w 2179"/>
              <a:gd name="T21" fmla="*/ 91 h 334"/>
              <a:gd name="T22" fmla="*/ 1124 w 2179"/>
              <a:gd name="T23" fmla="*/ 54 h 334"/>
              <a:gd name="T24" fmla="*/ 1152 w 2179"/>
              <a:gd name="T25" fmla="*/ 102 h 334"/>
              <a:gd name="T26" fmla="*/ 1229 w 2179"/>
              <a:gd name="T27" fmla="*/ 80 h 334"/>
              <a:gd name="T28" fmla="*/ 1017 w 2179"/>
              <a:gd name="T29" fmla="*/ 71 h 334"/>
              <a:gd name="T30" fmla="*/ 1157 w 2179"/>
              <a:gd name="T31" fmla="*/ 233 h 334"/>
              <a:gd name="T32" fmla="*/ 1128 w 2179"/>
              <a:gd name="T33" fmla="*/ 277 h 334"/>
              <a:gd name="T34" fmla="*/ 1097 w 2179"/>
              <a:gd name="T35" fmla="*/ 219 h 334"/>
              <a:gd name="T36" fmla="*/ 1014 w 2179"/>
              <a:gd name="T37" fmla="*/ 243 h 334"/>
              <a:gd name="T38" fmla="*/ 1235 w 2179"/>
              <a:gd name="T39" fmla="*/ 262 h 334"/>
              <a:gd name="T40" fmla="*/ 1096 w 2179"/>
              <a:gd name="T41" fmla="*/ 91 h 334"/>
              <a:gd name="T42" fmla="*/ 1730 w 2179"/>
              <a:gd name="T43" fmla="*/ 10 h 334"/>
              <a:gd name="T44" fmla="*/ 1614 w 2179"/>
              <a:gd name="T45" fmla="*/ 319 h 334"/>
              <a:gd name="T46" fmla="*/ 1686 w 2179"/>
              <a:gd name="T47" fmla="*/ 60 h 334"/>
              <a:gd name="T48" fmla="*/ 1876 w 2179"/>
              <a:gd name="T49" fmla="*/ 319 h 334"/>
              <a:gd name="T50" fmla="*/ 1799 w 2179"/>
              <a:gd name="T51" fmla="*/ 10 h 334"/>
              <a:gd name="T52" fmla="*/ 333 w 2179"/>
              <a:gd name="T53" fmla="*/ 10 h 334"/>
              <a:gd name="T54" fmla="*/ 360 w 2179"/>
              <a:gd name="T55" fmla="*/ 322 h 334"/>
              <a:gd name="T56" fmla="*/ 446 w 2179"/>
              <a:gd name="T57" fmla="*/ 322 h 334"/>
              <a:gd name="T58" fmla="*/ 472 w 2179"/>
              <a:gd name="T59" fmla="*/ 10 h 334"/>
              <a:gd name="T60" fmla="*/ 804 w 2179"/>
              <a:gd name="T61" fmla="*/ 10 h 334"/>
              <a:gd name="T62" fmla="*/ 725 w 2179"/>
              <a:gd name="T63" fmla="*/ 10 h 334"/>
              <a:gd name="T64" fmla="*/ 592 w 2179"/>
              <a:gd name="T65" fmla="*/ 322 h 334"/>
              <a:gd name="T66" fmla="*/ 671 w 2179"/>
              <a:gd name="T67" fmla="*/ 33 h 334"/>
              <a:gd name="T68" fmla="*/ 804 w 2179"/>
              <a:gd name="T69" fmla="*/ 322 h 334"/>
              <a:gd name="T70" fmla="*/ 860 w 2179"/>
              <a:gd name="T71" fmla="*/ 322 h 334"/>
              <a:gd name="T72" fmla="*/ 931 w 2179"/>
              <a:gd name="T73" fmla="*/ 10 h 334"/>
              <a:gd name="T74" fmla="*/ 1528 w 2179"/>
              <a:gd name="T75" fmla="*/ 10 h 334"/>
              <a:gd name="T76" fmla="*/ 1449 w 2179"/>
              <a:gd name="T77" fmla="*/ 241 h 334"/>
              <a:gd name="T78" fmla="*/ 1418 w 2179"/>
              <a:gd name="T79" fmla="*/ 275 h 334"/>
              <a:gd name="T80" fmla="*/ 1388 w 2179"/>
              <a:gd name="T81" fmla="*/ 241 h 334"/>
              <a:gd name="T82" fmla="*/ 1309 w 2179"/>
              <a:gd name="T83" fmla="*/ 10 h 334"/>
              <a:gd name="T84" fmla="*/ 1310 w 2179"/>
              <a:gd name="T85" fmla="*/ 254 h 334"/>
              <a:gd name="T86" fmla="*/ 1527 w 2179"/>
              <a:gd name="T87" fmla="*/ 254 h 334"/>
              <a:gd name="T88" fmla="*/ 1528 w 2179"/>
              <a:gd name="T89" fmla="*/ 10 h 334"/>
              <a:gd name="T90" fmla="*/ 2069 w 2179"/>
              <a:gd name="T91" fmla="*/ 192 h 334"/>
              <a:gd name="T92" fmla="*/ 2101 w 2179"/>
              <a:gd name="T93" fmla="*/ 237 h 334"/>
              <a:gd name="T94" fmla="*/ 2068 w 2179"/>
              <a:gd name="T95" fmla="*/ 272 h 334"/>
              <a:gd name="T96" fmla="*/ 2035 w 2179"/>
              <a:gd name="T97" fmla="*/ 237 h 334"/>
              <a:gd name="T98" fmla="*/ 2037 w 2179"/>
              <a:gd name="T99" fmla="*/ 80 h 334"/>
              <a:gd name="T100" fmla="*/ 2099 w 2179"/>
              <a:gd name="T101" fmla="*/ 80 h 334"/>
              <a:gd name="T102" fmla="*/ 2100 w 2179"/>
              <a:gd name="T103" fmla="*/ 110 h 334"/>
              <a:gd name="T104" fmla="*/ 2178 w 2179"/>
              <a:gd name="T105" fmla="*/ 99 h 334"/>
              <a:gd name="T106" fmla="*/ 2068 w 2179"/>
              <a:gd name="T107" fmla="*/ 2 h 334"/>
              <a:gd name="T108" fmla="*/ 1958 w 2179"/>
              <a:gd name="T109" fmla="*/ 99 h 334"/>
              <a:gd name="T110" fmla="*/ 1959 w 2179"/>
              <a:gd name="T111" fmla="*/ 251 h 334"/>
              <a:gd name="T112" fmla="*/ 2178 w 2179"/>
              <a:gd name="T113" fmla="*/ 251 h 334"/>
              <a:gd name="T114" fmla="*/ 2179 w 2179"/>
              <a:gd name="T115" fmla="*/ 147 h 3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2179" h="334">
                <a:moveTo>
                  <a:pt x="83" y="91"/>
                </a:moveTo>
                <a:cubicBezTo>
                  <a:pt x="81" y="84"/>
                  <a:pt x="82" y="78"/>
                  <a:pt x="82" y="74"/>
                </a:cubicBezTo>
                <a:cubicBezTo>
                  <a:pt x="84" y="64"/>
                  <a:pt x="91" y="53"/>
                  <a:pt x="111" y="53"/>
                </a:cubicBezTo>
                <a:cubicBezTo>
                  <a:pt x="129" y="53"/>
                  <a:pt x="140" y="65"/>
                  <a:pt x="140" y="82"/>
                </a:cubicBezTo>
                <a:cubicBezTo>
                  <a:pt x="140" y="101"/>
                  <a:pt x="140" y="101"/>
                  <a:pt x="140" y="101"/>
                </a:cubicBezTo>
                <a:cubicBezTo>
                  <a:pt x="218" y="101"/>
                  <a:pt x="218" y="101"/>
                  <a:pt x="218" y="101"/>
                </a:cubicBezTo>
                <a:cubicBezTo>
                  <a:pt x="218" y="79"/>
                  <a:pt x="218" y="79"/>
                  <a:pt x="218" y="79"/>
                </a:cubicBezTo>
                <a:cubicBezTo>
                  <a:pt x="218" y="11"/>
                  <a:pt x="156" y="0"/>
                  <a:pt x="112" y="0"/>
                </a:cubicBezTo>
                <a:cubicBezTo>
                  <a:pt x="57" y="0"/>
                  <a:pt x="12" y="19"/>
                  <a:pt x="4" y="70"/>
                </a:cubicBezTo>
                <a:cubicBezTo>
                  <a:pt x="1" y="84"/>
                  <a:pt x="1" y="96"/>
                  <a:pt x="4" y="112"/>
                </a:cubicBezTo>
                <a:cubicBezTo>
                  <a:pt x="18" y="175"/>
                  <a:pt x="128" y="194"/>
                  <a:pt x="145" y="234"/>
                </a:cubicBezTo>
                <a:cubicBezTo>
                  <a:pt x="148" y="241"/>
                  <a:pt x="147" y="251"/>
                  <a:pt x="145" y="257"/>
                </a:cubicBezTo>
                <a:cubicBezTo>
                  <a:pt x="143" y="267"/>
                  <a:pt x="136" y="278"/>
                  <a:pt x="115" y="278"/>
                </a:cubicBezTo>
                <a:cubicBezTo>
                  <a:pt x="95" y="278"/>
                  <a:pt x="84" y="267"/>
                  <a:pt x="84" y="250"/>
                </a:cubicBezTo>
                <a:cubicBezTo>
                  <a:pt x="83" y="220"/>
                  <a:pt x="83" y="220"/>
                  <a:pt x="83" y="220"/>
                </a:cubicBezTo>
                <a:cubicBezTo>
                  <a:pt x="0" y="220"/>
                  <a:pt x="0" y="220"/>
                  <a:pt x="0" y="220"/>
                </a:cubicBezTo>
                <a:cubicBezTo>
                  <a:pt x="0" y="244"/>
                  <a:pt x="0" y="244"/>
                  <a:pt x="0" y="244"/>
                </a:cubicBezTo>
                <a:cubicBezTo>
                  <a:pt x="0" y="313"/>
                  <a:pt x="55" y="334"/>
                  <a:pt x="113" y="334"/>
                </a:cubicBezTo>
                <a:cubicBezTo>
                  <a:pt x="169" y="334"/>
                  <a:pt x="216" y="315"/>
                  <a:pt x="223" y="263"/>
                </a:cubicBezTo>
                <a:cubicBezTo>
                  <a:pt x="227" y="236"/>
                  <a:pt x="224" y="218"/>
                  <a:pt x="223" y="212"/>
                </a:cubicBezTo>
                <a:cubicBezTo>
                  <a:pt x="210" y="146"/>
                  <a:pt x="92" y="127"/>
                  <a:pt x="83" y="91"/>
                </a:cubicBezTo>
                <a:moveTo>
                  <a:pt x="1096" y="91"/>
                </a:moveTo>
                <a:cubicBezTo>
                  <a:pt x="1094" y="85"/>
                  <a:pt x="1095" y="79"/>
                  <a:pt x="1096" y="75"/>
                </a:cubicBezTo>
                <a:cubicBezTo>
                  <a:pt x="1098" y="65"/>
                  <a:pt x="1104" y="54"/>
                  <a:pt x="1124" y="54"/>
                </a:cubicBezTo>
                <a:cubicBezTo>
                  <a:pt x="1142" y="54"/>
                  <a:pt x="1152" y="66"/>
                  <a:pt x="1152" y="82"/>
                </a:cubicBezTo>
                <a:cubicBezTo>
                  <a:pt x="1152" y="102"/>
                  <a:pt x="1152" y="102"/>
                  <a:pt x="1152" y="102"/>
                </a:cubicBezTo>
                <a:cubicBezTo>
                  <a:pt x="1229" y="102"/>
                  <a:pt x="1229" y="102"/>
                  <a:pt x="1229" y="102"/>
                </a:cubicBezTo>
                <a:cubicBezTo>
                  <a:pt x="1229" y="80"/>
                  <a:pt x="1229" y="80"/>
                  <a:pt x="1229" y="80"/>
                </a:cubicBezTo>
                <a:cubicBezTo>
                  <a:pt x="1229" y="13"/>
                  <a:pt x="1169" y="2"/>
                  <a:pt x="1125" y="2"/>
                </a:cubicBezTo>
                <a:cubicBezTo>
                  <a:pt x="1070" y="2"/>
                  <a:pt x="1026" y="20"/>
                  <a:pt x="1017" y="71"/>
                </a:cubicBezTo>
                <a:cubicBezTo>
                  <a:pt x="1015" y="84"/>
                  <a:pt x="1015" y="97"/>
                  <a:pt x="1018" y="112"/>
                </a:cubicBezTo>
                <a:cubicBezTo>
                  <a:pt x="1032" y="175"/>
                  <a:pt x="1141" y="193"/>
                  <a:pt x="1157" y="233"/>
                </a:cubicBezTo>
                <a:cubicBezTo>
                  <a:pt x="1160" y="241"/>
                  <a:pt x="1159" y="250"/>
                  <a:pt x="1158" y="256"/>
                </a:cubicBezTo>
                <a:cubicBezTo>
                  <a:pt x="1155" y="267"/>
                  <a:pt x="1148" y="277"/>
                  <a:pt x="1128" y="277"/>
                </a:cubicBezTo>
                <a:cubicBezTo>
                  <a:pt x="1108" y="277"/>
                  <a:pt x="1097" y="266"/>
                  <a:pt x="1097" y="249"/>
                </a:cubicBezTo>
                <a:cubicBezTo>
                  <a:pt x="1097" y="219"/>
                  <a:pt x="1097" y="219"/>
                  <a:pt x="1097" y="219"/>
                </a:cubicBezTo>
                <a:cubicBezTo>
                  <a:pt x="1014" y="219"/>
                  <a:pt x="1014" y="219"/>
                  <a:pt x="1014" y="219"/>
                </a:cubicBezTo>
                <a:cubicBezTo>
                  <a:pt x="1014" y="243"/>
                  <a:pt x="1014" y="243"/>
                  <a:pt x="1014" y="243"/>
                </a:cubicBezTo>
                <a:cubicBezTo>
                  <a:pt x="1014" y="312"/>
                  <a:pt x="1068" y="332"/>
                  <a:pt x="1126" y="332"/>
                </a:cubicBezTo>
                <a:cubicBezTo>
                  <a:pt x="1182" y="332"/>
                  <a:pt x="1228" y="313"/>
                  <a:pt x="1235" y="262"/>
                </a:cubicBezTo>
                <a:cubicBezTo>
                  <a:pt x="1238" y="235"/>
                  <a:pt x="1236" y="218"/>
                  <a:pt x="1234" y="211"/>
                </a:cubicBezTo>
                <a:cubicBezTo>
                  <a:pt x="1221" y="147"/>
                  <a:pt x="1105" y="127"/>
                  <a:pt x="1096" y="91"/>
                </a:cubicBezTo>
                <a:moveTo>
                  <a:pt x="1803" y="261"/>
                </a:moveTo>
                <a:cubicBezTo>
                  <a:pt x="1730" y="10"/>
                  <a:pt x="1730" y="10"/>
                  <a:pt x="1730" y="10"/>
                </a:cubicBezTo>
                <a:cubicBezTo>
                  <a:pt x="1614" y="10"/>
                  <a:pt x="1614" y="10"/>
                  <a:pt x="1614" y="10"/>
                </a:cubicBezTo>
                <a:cubicBezTo>
                  <a:pt x="1614" y="319"/>
                  <a:pt x="1614" y="319"/>
                  <a:pt x="1614" y="319"/>
                </a:cubicBezTo>
                <a:cubicBezTo>
                  <a:pt x="1691" y="319"/>
                  <a:pt x="1691" y="319"/>
                  <a:pt x="1691" y="319"/>
                </a:cubicBezTo>
                <a:cubicBezTo>
                  <a:pt x="1686" y="60"/>
                  <a:pt x="1686" y="60"/>
                  <a:pt x="1686" y="60"/>
                </a:cubicBezTo>
                <a:cubicBezTo>
                  <a:pt x="1765" y="319"/>
                  <a:pt x="1765" y="319"/>
                  <a:pt x="1765" y="319"/>
                </a:cubicBezTo>
                <a:cubicBezTo>
                  <a:pt x="1876" y="319"/>
                  <a:pt x="1876" y="319"/>
                  <a:pt x="1876" y="319"/>
                </a:cubicBezTo>
                <a:cubicBezTo>
                  <a:pt x="1876" y="10"/>
                  <a:pt x="1876" y="10"/>
                  <a:pt x="1876" y="10"/>
                </a:cubicBezTo>
                <a:cubicBezTo>
                  <a:pt x="1799" y="10"/>
                  <a:pt x="1799" y="10"/>
                  <a:pt x="1799" y="10"/>
                </a:cubicBezTo>
                <a:lnTo>
                  <a:pt x="1803" y="261"/>
                </a:lnTo>
                <a:close/>
                <a:moveTo>
                  <a:pt x="333" y="10"/>
                </a:moveTo>
                <a:cubicBezTo>
                  <a:pt x="276" y="322"/>
                  <a:pt x="276" y="322"/>
                  <a:pt x="276" y="322"/>
                </a:cubicBezTo>
                <a:cubicBezTo>
                  <a:pt x="360" y="322"/>
                  <a:pt x="360" y="322"/>
                  <a:pt x="360" y="322"/>
                </a:cubicBezTo>
                <a:cubicBezTo>
                  <a:pt x="403" y="33"/>
                  <a:pt x="403" y="33"/>
                  <a:pt x="403" y="33"/>
                </a:cubicBezTo>
                <a:cubicBezTo>
                  <a:pt x="446" y="322"/>
                  <a:pt x="446" y="322"/>
                  <a:pt x="446" y="322"/>
                </a:cubicBezTo>
                <a:cubicBezTo>
                  <a:pt x="529" y="322"/>
                  <a:pt x="529" y="322"/>
                  <a:pt x="529" y="322"/>
                </a:cubicBezTo>
                <a:cubicBezTo>
                  <a:pt x="472" y="10"/>
                  <a:pt x="472" y="10"/>
                  <a:pt x="472" y="10"/>
                </a:cubicBezTo>
                <a:lnTo>
                  <a:pt x="333" y="10"/>
                </a:lnTo>
                <a:close/>
                <a:moveTo>
                  <a:pt x="804" y="10"/>
                </a:moveTo>
                <a:cubicBezTo>
                  <a:pt x="765" y="254"/>
                  <a:pt x="765" y="254"/>
                  <a:pt x="765" y="254"/>
                </a:cubicBezTo>
                <a:cubicBezTo>
                  <a:pt x="725" y="10"/>
                  <a:pt x="725" y="10"/>
                  <a:pt x="725" y="10"/>
                </a:cubicBezTo>
                <a:cubicBezTo>
                  <a:pt x="598" y="10"/>
                  <a:pt x="598" y="10"/>
                  <a:pt x="598" y="10"/>
                </a:cubicBezTo>
                <a:cubicBezTo>
                  <a:pt x="592" y="322"/>
                  <a:pt x="592" y="322"/>
                  <a:pt x="592" y="322"/>
                </a:cubicBezTo>
                <a:cubicBezTo>
                  <a:pt x="669" y="322"/>
                  <a:pt x="669" y="322"/>
                  <a:pt x="669" y="322"/>
                </a:cubicBezTo>
                <a:cubicBezTo>
                  <a:pt x="671" y="33"/>
                  <a:pt x="671" y="33"/>
                  <a:pt x="671" y="33"/>
                </a:cubicBezTo>
                <a:cubicBezTo>
                  <a:pt x="725" y="322"/>
                  <a:pt x="725" y="322"/>
                  <a:pt x="725" y="322"/>
                </a:cubicBezTo>
                <a:cubicBezTo>
                  <a:pt x="804" y="322"/>
                  <a:pt x="804" y="322"/>
                  <a:pt x="804" y="322"/>
                </a:cubicBezTo>
                <a:cubicBezTo>
                  <a:pt x="858" y="33"/>
                  <a:pt x="858" y="33"/>
                  <a:pt x="858" y="33"/>
                </a:cubicBezTo>
                <a:cubicBezTo>
                  <a:pt x="860" y="322"/>
                  <a:pt x="860" y="322"/>
                  <a:pt x="860" y="322"/>
                </a:cubicBezTo>
                <a:cubicBezTo>
                  <a:pt x="938" y="322"/>
                  <a:pt x="938" y="322"/>
                  <a:pt x="938" y="322"/>
                </a:cubicBezTo>
                <a:cubicBezTo>
                  <a:pt x="931" y="10"/>
                  <a:pt x="931" y="10"/>
                  <a:pt x="931" y="10"/>
                </a:cubicBezTo>
                <a:lnTo>
                  <a:pt x="804" y="10"/>
                </a:lnTo>
                <a:close/>
                <a:moveTo>
                  <a:pt x="1528" y="10"/>
                </a:moveTo>
                <a:cubicBezTo>
                  <a:pt x="1449" y="10"/>
                  <a:pt x="1449" y="10"/>
                  <a:pt x="1449" y="10"/>
                </a:cubicBezTo>
                <a:cubicBezTo>
                  <a:pt x="1449" y="241"/>
                  <a:pt x="1449" y="241"/>
                  <a:pt x="1449" y="241"/>
                </a:cubicBezTo>
                <a:cubicBezTo>
                  <a:pt x="1449" y="245"/>
                  <a:pt x="1449" y="249"/>
                  <a:pt x="1448" y="253"/>
                </a:cubicBezTo>
                <a:cubicBezTo>
                  <a:pt x="1447" y="260"/>
                  <a:pt x="1440" y="275"/>
                  <a:pt x="1418" y="275"/>
                </a:cubicBezTo>
                <a:cubicBezTo>
                  <a:pt x="1397" y="275"/>
                  <a:pt x="1390" y="260"/>
                  <a:pt x="1389" y="253"/>
                </a:cubicBezTo>
                <a:cubicBezTo>
                  <a:pt x="1388" y="249"/>
                  <a:pt x="1388" y="245"/>
                  <a:pt x="1388" y="241"/>
                </a:cubicBezTo>
                <a:cubicBezTo>
                  <a:pt x="1388" y="10"/>
                  <a:pt x="1388" y="10"/>
                  <a:pt x="1388" y="10"/>
                </a:cubicBezTo>
                <a:cubicBezTo>
                  <a:pt x="1309" y="10"/>
                  <a:pt x="1309" y="10"/>
                  <a:pt x="1309" y="10"/>
                </a:cubicBezTo>
                <a:cubicBezTo>
                  <a:pt x="1309" y="234"/>
                  <a:pt x="1309" y="234"/>
                  <a:pt x="1309" y="234"/>
                </a:cubicBezTo>
                <a:cubicBezTo>
                  <a:pt x="1309" y="239"/>
                  <a:pt x="1309" y="251"/>
                  <a:pt x="1310" y="254"/>
                </a:cubicBezTo>
                <a:cubicBezTo>
                  <a:pt x="1315" y="312"/>
                  <a:pt x="1361" y="331"/>
                  <a:pt x="1418" y="331"/>
                </a:cubicBezTo>
                <a:cubicBezTo>
                  <a:pt x="1476" y="331"/>
                  <a:pt x="1522" y="312"/>
                  <a:pt x="1527" y="254"/>
                </a:cubicBezTo>
                <a:cubicBezTo>
                  <a:pt x="1528" y="251"/>
                  <a:pt x="1528" y="239"/>
                  <a:pt x="1528" y="234"/>
                </a:cubicBezTo>
                <a:lnTo>
                  <a:pt x="1528" y="10"/>
                </a:lnTo>
                <a:close/>
                <a:moveTo>
                  <a:pt x="2069" y="147"/>
                </a:moveTo>
                <a:cubicBezTo>
                  <a:pt x="2069" y="192"/>
                  <a:pt x="2069" y="192"/>
                  <a:pt x="2069" y="192"/>
                </a:cubicBezTo>
                <a:cubicBezTo>
                  <a:pt x="2101" y="192"/>
                  <a:pt x="2101" y="192"/>
                  <a:pt x="2101" y="192"/>
                </a:cubicBezTo>
                <a:cubicBezTo>
                  <a:pt x="2101" y="237"/>
                  <a:pt x="2101" y="237"/>
                  <a:pt x="2101" y="237"/>
                </a:cubicBezTo>
                <a:cubicBezTo>
                  <a:pt x="2101" y="241"/>
                  <a:pt x="2101" y="246"/>
                  <a:pt x="2100" y="249"/>
                </a:cubicBezTo>
                <a:cubicBezTo>
                  <a:pt x="2099" y="258"/>
                  <a:pt x="2091" y="272"/>
                  <a:pt x="2068" y="272"/>
                </a:cubicBezTo>
                <a:cubicBezTo>
                  <a:pt x="2045" y="272"/>
                  <a:pt x="2038" y="258"/>
                  <a:pt x="2036" y="249"/>
                </a:cubicBezTo>
                <a:cubicBezTo>
                  <a:pt x="2036" y="246"/>
                  <a:pt x="2035" y="241"/>
                  <a:pt x="2035" y="237"/>
                </a:cubicBezTo>
                <a:cubicBezTo>
                  <a:pt x="2035" y="95"/>
                  <a:pt x="2035" y="95"/>
                  <a:pt x="2035" y="95"/>
                </a:cubicBezTo>
                <a:cubicBezTo>
                  <a:pt x="2035" y="90"/>
                  <a:pt x="2036" y="85"/>
                  <a:pt x="2037" y="80"/>
                </a:cubicBezTo>
                <a:cubicBezTo>
                  <a:pt x="2038" y="73"/>
                  <a:pt x="2045" y="58"/>
                  <a:pt x="2068" y="58"/>
                </a:cubicBezTo>
                <a:cubicBezTo>
                  <a:pt x="2092" y="58"/>
                  <a:pt x="2098" y="74"/>
                  <a:pt x="2099" y="80"/>
                </a:cubicBezTo>
                <a:cubicBezTo>
                  <a:pt x="2100" y="85"/>
                  <a:pt x="2100" y="92"/>
                  <a:pt x="2100" y="92"/>
                </a:cubicBezTo>
                <a:cubicBezTo>
                  <a:pt x="2100" y="110"/>
                  <a:pt x="2100" y="110"/>
                  <a:pt x="2100" y="110"/>
                </a:cubicBezTo>
                <a:cubicBezTo>
                  <a:pt x="2178" y="110"/>
                  <a:pt x="2178" y="110"/>
                  <a:pt x="2178" y="110"/>
                </a:cubicBezTo>
                <a:cubicBezTo>
                  <a:pt x="2178" y="99"/>
                  <a:pt x="2178" y="99"/>
                  <a:pt x="2178" y="99"/>
                </a:cubicBezTo>
                <a:cubicBezTo>
                  <a:pt x="2178" y="99"/>
                  <a:pt x="2179" y="89"/>
                  <a:pt x="2178" y="79"/>
                </a:cubicBezTo>
                <a:cubicBezTo>
                  <a:pt x="2172" y="20"/>
                  <a:pt x="2124" y="2"/>
                  <a:pt x="2068" y="2"/>
                </a:cubicBezTo>
                <a:cubicBezTo>
                  <a:pt x="2013" y="2"/>
                  <a:pt x="1966" y="21"/>
                  <a:pt x="1959" y="79"/>
                </a:cubicBezTo>
                <a:cubicBezTo>
                  <a:pt x="1958" y="84"/>
                  <a:pt x="1958" y="94"/>
                  <a:pt x="1958" y="99"/>
                </a:cubicBezTo>
                <a:cubicBezTo>
                  <a:pt x="1958" y="230"/>
                  <a:pt x="1958" y="230"/>
                  <a:pt x="1958" y="230"/>
                </a:cubicBezTo>
                <a:cubicBezTo>
                  <a:pt x="1958" y="236"/>
                  <a:pt x="1958" y="241"/>
                  <a:pt x="1959" y="251"/>
                </a:cubicBezTo>
                <a:cubicBezTo>
                  <a:pt x="1964" y="308"/>
                  <a:pt x="2013" y="328"/>
                  <a:pt x="2068" y="328"/>
                </a:cubicBezTo>
                <a:cubicBezTo>
                  <a:pt x="2124" y="328"/>
                  <a:pt x="2173" y="308"/>
                  <a:pt x="2178" y="251"/>
                </a:cubicBezTo>
                <a:cubicBezTo>
                  <a:pt x="2179" y="241"/>
                  <a:pt x="2179" y="236"/>
                  <a:pt x="2179" y="230"/>
                </a:cubicBezTo>
                <a:cubicBezTo>
                  <a:pt x="2179" y="147"/>
                  <a:pt x="2179" y="147"/>
                  <a:pt x="2179" y="147"/>
                </a:cubicBezTo>
                <a:lnTo>
                  <a:pt x="2069" y="147"/>
                </a:lnTo>
                <a:close/>
              </a:path>
            </a:pathLst>
          </a:custGeom>
          <a:solidFill>
            <a:srgbClr val="0924A5"/>
          </a:solidFill>
          <a:ln>
            <a:noFill/>
          </a:ln>
        </p:spPr>
        <p:txBody>
          <a:bodyPr vert="horz" wrap="square" lIns="91411" tIns="45705" rIns="91411" bIns="45705" numCol="1" anchor="t" anchorCtr="0" compatLnSpc="1">
            <a:prstTxWarp prst="textNoShape">
              <a:avLst/>
            </a:prstTxWarp>
            <a:scene3d>
              <a:camera prst="orthographicFront"/>
              <a:lightRig rig="threePt" dir="t"/>
            </a:scene3d>
            <a:sp3d>
              <a:bevelT w="0" h="6350"/>
            </a:sp3d>
          </a:bodyPr>
          <a:lstStyle/>
          <a:p>
            <a:pPr marL="0" marR="0" lvl="0" indent="0" algn="l" defTabSz="914126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sz="1959" noProof="0" dirty="0"/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5631" y="6141164"/>
            <a:ext cx="1371564" cy="45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444263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79288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91" r:id="rId2"/>
    <p:sldLayoutId id="2147483685" r:id="rId3"/>
    <p:sldLayoutId id="2147483687" r:id="rId4"/>
    <p:sldLayoutId id="2147483694" r:id="rId5"/>
    <p:sldLayoutId id="2147483693" r:id="rId6"/>
    <p:sldLayoutId id="2147483686" r:id="rId7"/>
    <p:sldLayoutId id="2147483688" r:id="rId8"/>
    <p:sldLayoutId id="2147483689" r:id="rId9"/>
    <p:sldLayoutId id="2147483690" r:id="rId10"/>
  </p:sldLayoutIdLst>
  <p:txStyles>
    <p:titleStyle>
      <a:lvl1pPr algn="l" defTabSz="914126" rtl="0" eaLnBrk="1" latinLnBrk="1" hangingPunct="1">
        <a:lnSpc>
          <a:spcPct val="90000"/>
        </a:lnSpc>
        <a:spcBef>
          <a:spcPct val="0"/>
        </a:spcBef>
        <a:buNone/>
        <a:defRPr sz="43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31" indent="-228531" algn="l" defTabSz="914126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9" kern="1200">
          <a:solidFill>
            <a:schemeClr val="tx1"/>
          </a:solidFill>
          <a:latin typeface="+mn-lt"/>
          <a:ea typeface="+mn-ea"/>
          <a:cs typeface="+mn-cs"/>
        </a:defRPr>
      </a:lvl1pPr>
      <a:lvl2pPr marL="685594" indent="-228531" algn="l" defTabSz="91412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657" indent="-228531" algn="l" defTabSz="91412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3pPr>
      <a:lvl4pPr marL="1599720" indent="-228531" algn="l" defTabSz="91412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2056783" indent="-228531" algn="l" defTabSz="91412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513846" indent="-228531" algn="l" defTabSz="91412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908" indent="-228531" algn="l" defTabSz="91412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971" indent="-228531" algn="l" defTabSz="91412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5034" indent="-228531" algn="l" defTabSz="91412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26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914126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914126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914126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914126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914126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914126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914126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914126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2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4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7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9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0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1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3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4.png"/></Relationships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pPr>
              <a:defRPr sz="1100" b="1">
                <a:solidFill>
                  <a:srgbClr val="1E293B"/>
                </a:solidFill>
                <a:latin typeface="Arial"/>
              </a:defRPr>
            </a:pPr>
            <a:r>
              <a:t>Học viên: Nguyễn Văn Duy Mạnh &amp; Trần Hoài Nam</a:t>
            </a:r>
          </a:p>
          <a:p>
            <a:r>
              <a:t>Chương trình: Samsung Innovation Campus (SIC) — Big Data &amp; AI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200" b="1">
                <a:solidFill>
                  <a:srgbClr val="123B7A"/>
                </a:solidFill>
                <a:latin typeface="Arial"/>
              </a:defRPr>
            </a:pPr>
            <a:r>
              <a:t>HandAI: Hệ Thống Nhận Diện Chữ Viết Tay Học Sinh Tiểu Học</a:t>
            </a:r>
          </a:p>
          <a:p>
            <a:pPr>
              <a:spcBef>
                <a:spcPts val="800"/>
              </a:spcBef>
              <a:defRPr sz="1300" b="0">
                <a:solidFill>
                  <a:srgbClr val="2563EB"/>
                </a:solidFill>
                <a:latin typeface="Arial"/>
              </a:defRPr>
            </a:pPr>
            <a:r>
              <a:t>Vietnamese Primary School Handwriting Recognition System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900" b="1">
                <a:solidFill>
                  <a:srgbClr val="123B7A"/>
                </a:solidFill>
                <a:latin typeface="Arial"/>
              </a:defRPr>
            </a:pPr>
            <a:r>
              <a:t>Bối Cảnh Bài Toán &amp; Thách Thức Nhận Diện Chữ Viết Tay Tiểu Học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HANDAI — CAPSTONE DEFENSE  |  BỐI CẢNH VÀ ĐỘNG LỰC NGHIÊN CỨU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8000" y="2095500"/>
            <a:ext cx="4826000" cy="4191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101600" bIns="101600"/>
          <a:lstStyle/>
          <a:p>
            <a:pPr algn="ctr">
              <a:spcAft>
                <a:spcPts val="500"/>
              </a:spcAft>
              <a:defRPr sz="1150" b="1">
                <a:solidFill>
                  <a:srgbClr val="123B7A"/>
                </a:solidFill>
                <a:latin typeface="Arial"/>
              </a:defRPr>
            </a:pPr>
            <a:r>
              <a:t>Đặc Thù Chữ Viết Tay Tiểu Học &amp; Động Lực HandAI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  <a:latin typeface="Arial"/>
              </a:rPr>
              <a:t>▸ </a:t>
            </a:r>
            <a:r>
              <a:rPr sz="1000" b="1">
                <a:solidFill>
                  <a:srgbClr val="1E293B"/>
                </a:solidFill>
                <a:latin typeface="Arial"/>
              </a:rPr>
              <a:t>Vận động tinh chưa hoàn thiện: </a:t>
            </a:r>
            <a:r>
              <a:rPr sz="950">
                <a:solidFill>
                  <a:srgbClr val="475569"/>
                </a:solidFill>
                <a:latin typeface="Arial"/>
              </a:rPr>
              <a:t>Học sinh Lớp 1–5 có nét chữ biến thiên mạnh, độ nghiêng (15°–25°), nét nối phức tạp giữa chữ in và chữ thảo.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  <a:latin typeface="Arial"/>
              </a:rPr>
              <a:t>▸ </a:t>
            </a:r>
            <a:r>
              <a:rPr sz="1000" b="1">
                <a:solidFill>
                  <a:srgbClr val="1E293B"/>
                </a:solidFill>
                <a:latin typeface="Arial"/>
              </a:rPr>
              <a:t>Hệ thống dấu thanh Quốc ngữ: </a:t>
            </a:r>
            <a:r>
              <a:rPr sz="950">
                <a:solidFill>
                  <a:srgbClr val="475569"/>
                </a:solidFill>
                <a:latin typeface="Arial"/>
              </a:rPr>
              <a:t>5 thanh điệu và 3 ký tự mũ; trẻ thường viết dấu trôi xa thân chữ gây lỗi cắt rời dòng (diacritic detachment).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  <a:latin typeface="Arial"/>
              </a:rPr>
              <a:t>▸ </a:t>
            </a:r>
            <a:r>
              <a:rPr sz="1000" b="1">
                <a:solidFill>
                  <a:srgbClr val="1E293B"/>
                </a:solidFill>
                <a:latin typeface="Arial"/>
              </a:rPr>
              <a:t>Nhiễu giấy kẻ ô ly: </a:t>
            </a:r>
            <a:r>
              <a:rPr sz="950">
                <a:solidFill>
                  <a:srgbClr val="475569"/>
                </a:solidFill>
                <a:latin typeface="Arial"/>
              </a:rPr>
              <a:t>Đường kẻ caro tập viết giao cắt nét chữ, làm đứt gãy cấu trúc nét khi nhị phân hóa ảnh trên camera di động.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  <a:latin typeface="Arial"/>
              </a:rPr>
              <a:t>▸ </a:t>
            </a:r>
            <a:r>
              <a:rPr sz="1000" b="1">
                <a:solidFill>
                  <a:srgbClr val="1E293B"/>
                </a:solidFill>
                <a:latin typeface="Arial"/>
              </a:rPr>
              <a:t>OCR thương mại thất bại: </a:t>
            </a:r>
            <a:r>
              <a:rPr sz="950">
                <a:solidFill>
                  <a:srgbClr val="475569"/>
                </a:solidFill>
                <a:latin typeface="Arial"/>
              </a:rPr>
              <a:t>Google Vision và Tesseract ghi nhận CER &gt; 25% do thiếu mô hình ngôn ngữ tiểu học và thuật toán khử ô ly.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  <a:latin typeface="Arial"/>
              </a:rPr>
              <a:t>▸ </a:t>
            </a:r>
            <a:r>
              <a:rPr sz="1000" b="1">
                <a:solidFill>
                  <a:srgbClr val="1E293B"/>
                </a:solidFill>
                <a:latin typeface="Arial"/>
              </a:rPr>
              <a:t>Động lực sư phạm: </a:t>
            </a:r>
            <a:r>
              <a:rPr sz="950">
                <a:solidFill>
                  <a:srgbClr val="475569"/>
                </a:solidFill>
                <a:latin typeface="Arial"/>
              </a:rPr>
              <a:t>Tự động hóa chấm vở bài tập, giải phóng 70% thời gian cho giáo viên tiểu học và cá nhân hóa lộ trình tiến bộ.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88000" y="2095500"/>
            <a:ext cx="3810000" cy="4191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lide02_noteboo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9600" y="2692061"/>
            <a:ext cx="3606800" cy="269307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4200" y="5956300"/>
            <a:ext cx="3657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64748B"/>
                </a:solidFill>
                <a:latin typeface="Arial"/>
              </a:defRPr>
            </a:pPr>
            <a:r>
              <a:t>Nét chữ viết tay học sinh trên vở ô ly 4 ly vuông thực tế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900" b="1">
                <a:solidFill>
                  <a:srgbClr val="123B7A"/>
                </a:solidFill>
                <a:latin typeface="Arial"/>
              </a:defRPr>
            </a:pPr>
            <a:r>
              <a:t>Mục Tiêu Nghiên Cứu &amp; Bộ Chỉ Tiêu Kỹ Thuật (KPIs)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HANDAI — CAPSTONE DEFENSE  |  MỤC TIÊU DỰ ÁN &amp; CHỈ TIÊU KỸ THUẬT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8000" y="2095500"/>
            <a:ext cx="5969000" cy="19685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101600" bIns="101600"/>
          <a:lstStyle/>
          <a:p>
            <a:pPr algn="ctr">
              <a:spcAft>
                <a:spcPts val="500"/>
              </a:spcAft>
              <a:defRPr sz="1150" b="1">
                <a:solidFill>
                  <a:srgbClr val="123B7A"/>
                </a:solidFill>
                <a:latin typeface="Arial"/>
              </a:defRPr>
            </a:pPr>
            <a:r>
              <a:t>4 Trọng Tâm Kỹ Thuật Cốt Lõi Dự Án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  <a:latin typeface="Arial"/>
              </a:rPr>
              <a:t>▸ </a:t>
            </a:r>
            <a:r>
              <a:rPr sz="1000" b="1">
                <a:solidFill>
                  <a:srgbClr val="1E293B"/>
                </a:solidFill>
                <a:latin typeface="Arial"/>
              </a:rPr>
              <a:t>1. Nhận diện CRNN Line OCR: </a:t>
            </a:r>
            <a:r>
              <a:rPr sz="950">
                <a:solidFill>
                  <a:srgbClr val="475569"/>
                </a:solidFill>
                <a:latin typeface="Arial"/>
              </a:rPr>
              <a:t>ResNet-34 + BiLSTM + CTC siêu nhẹ (&lt;6M tham số), suy luận &lt; 50ms trên CPU thông thường.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  <a:latin typeface="Arial"/>
              </a:rPr>
              <a:t>▸ </a:t>
            </a:r>
            <a:r>
              <a:rPr sz="1000" b="1">
                <a:solidFill>
                  <a:srgbClr val="1E293B"/>
                </a:solidFill>
                <a:latin typeface="Arial"/>
              </a:rPr>
              <a:t>2. Trọng tài Dual-LLM: </a:t>
            </a:r>
            <a:r>
              <a:rPr sz="950">
                <a:solidFill>
                  <a:srgbClr val="475569"/>
                </a:solidFill>
                <a:latin typeface="Arial"/>
              </a:rPr>
              <a:t>Llama-3.3-70b + Gemini-4B phục hồi lỗi ngữ cảnh với từ điển chuẩn Bộ GD&amp;ĐT (MOET).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  <a:latin typeface="Arial"/>
              </a:rPr>
              <a:t>▸ </a:t>
            </a:r>
            <a:r>
              <a:rPr sz="1000" b="1">
                <a:solidFill>
                  <a:srgbClr val="1E293B"/>
                </a:solidFill>
                <a:latin typeface="Arial"/>
              </a:rPr>
              <a:t>3. Big Data Analytics: </a:t>
            </a:r>
            <a:r>
              <a:rPr sz="950">
                <a:solidFill>
                  <a:srgbClr val="475569"/>
                </a:solidFill>
                <a:latin typeface="Arial"/>
              </a:rPr>
              <a:t>Đo lường khoảng cách Levenshtein vi tích lũy và kiểm định độ tin cậy ECE đơn điệu nghiêm ngặt.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  <a:latin typeface="Arial"/>
              </a:rPr>
              <a:t>▸ </a:t>
            </a:r>
            <a:r>
              <a:rPr sz="1000" b="1">
                <a:solidFill>
                  <a:srgbClr val="1E293B"/>
                </a:solidFill>
                <a:latin typeface="Arial"/>
              </a:rPr>
              <a:t>4. Khả năng tái lập: </a:t>
            </a:r>
            <a:r>
              <a:rPr sz="950">
                <a:solidFill>
                  <a:srgbClr val="475569"/>
                </a:solidFill>
                <a:latin typeface="Arial"/>
              </a:rPr>
              <a:t>Lưu vết bất biến SHA-256 (best_cer.pth), minh bạch 100% dữ liệu và tham số thực nghiệm.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8000" y="4191000"/>
            <a:ext cx="5969000" cy="20955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101600" bIns="101600"/>
          <a:lstStyle/>
          <a:p>
            <a:pPr algn="ctr">
              <a:spcAft>
                <a:spcPts val="500"/>
              </a:spcAft>
              <a:defRPr sz="1150" b="1">
                <a:solidFill>
                  <a:srgbClr val="123B7A"/>
                </a:solidFill>
                <a:latin typeface="Arial"/>
              </a:defRPr>
            </a:pPr>
            <a:r>
              <a:t>Bảng Chỉ Tiêu Đạt Chuẩn Kỹ Thuật (Target vs Actual)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  <a:latin typeface="Arial"/>
              </a:rPr>
              <a:t>▸ </a:t>
            </a:r>
            <a:r>
              <a:rPr sz="1000" b="1">
                <a:solidFill>
                  <a:srgbClr val="1E293B"/>
                </a:solidFill>
                <a:latin typeface="Arial"/>
              </a:rPr>
              <a:t>Độ chính xác dòng (Line Accuracy): </a:t>
            </a:r>
            <a:r>
              <a:rPr sz="950">
                <a:solidFill>
                  <a:srgbClr val="475569"/>
                </a:solidFill>
                <a:latin typeface="Arial"/>
              </a:rPr>
              <a:t>Chỉ tiêu ≥ 80.0%  →  Thực tế đạt 94.0% (Vượt +14.0%)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  <a:latin typeface="Arial"/>
              </a:rPr>
              <a:t>▸ </a:t>
            </a:r>
            <a:r>
              <a:rPr sz="1000" b="1">
                <a:solidFill>
                  <a:srgbClr val="1E293B"/>
                </a:solidFill>
                <a:latin typeface="Arial"/>
              </a:rPr>
              <a:t>Tỷ lệ lỗi ký tự (CER): </a:t>
            </a:r>
            <a:r>
              <a:rPr sz="950">
                <a:solidFill>
                  <a:srgbClr val="475569"/>
                </a:solidFill>
                <a:latin typeface="Arial"/>
              </a:rPr>
              <a:t>Chỉ tiêu ≤ 10.0%  →  Thực tế đạt 5.0% (Vượt gấp 2.0 lần)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  <a:latin typeface="Arial"/>
              </a:rPr>
              <a:t>▸ </a:t>
            </a:r>
            <a:r>
              <a:rPr sz="1000" b="1">
                <a:solidFill>
                  <a:srgbClr val="1E293B"/>
                </a:solidFill>
                <a:latin typeface="Arial"/>
              </a:rPr>
              <a:t>Tỷ lệ cứu lỗi AI (Rescue Rate): </a:t>
            </a:r>
            <a:r>
              <a:rPr sz="950">
                <a:solidFill>
                  <a:srgbClr val="475569"/>
                </a:solidFill>
                <a:latin typeface="Arial"/>
              </a:rPr>
              <a:t>Chỉ tiêu ≥ 60.0%  →  Thực tế đạt 67.0% (Vượt +7.0%)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  <a:latin typeface="Arial"/>
              </a:rPr>
              <a:t>▸ </a:t>
            </a:r>
            <a:r>
              <a:rPr sz="1000" b="1">
                <a:solidFill>
                  <a:srgbClr val="1E293B"/>
                </a:solidFill>
                <a:latin typeface="Arial"/>
              </a:rPr>
              <a:t>Kiểm định hiệu chuẩn ECE: </a:t>
            </a:r>
            <a:r>
              <a:rPr sz="950">
                <a:solidFill>
                  <a:srgbClr val="475569"/>
                </a:solidFill>
                <a:latin typeface="Arial"/>
              </a:rPr>
              <a:t>Chỉ tiêu ≤ 0.050  →  Thực tế đạt 0.042 (Đạt chuẩn đơn điệu)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  <a:latin typeface="Arial"/>
              </a:rPr>
              <a:t>▸ </a:t>
            </a:r>
            <a:r>
              <a:rPr sz="1000" b="1">
                <a:solidFill>
                  <a:srgbClr val="1E293B"/>
                </a:solidFill>
                <a:latin typeface="Arial"/>
              </a:rPr>
              <a:t>Độ sẵn sàng hệ thống: </a:t>
            </a:r>
            <a:r>
              <a:rPr sz="950">
                <a:solidFill>
                  <a:srgbClr val="475569"/>
                </a:solidFill>
                <a:latin typeface="Arial"/>
              </a:rPr>
              <a:t>Vượt qua 168 bài kiểm thử tự động (100% Pass Rate), sẵn sàng ứng dụng.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31000" y="2095500"/>
            <a:ext cx="2667000" cy="4191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32600" y="2220657"/>
            <a:ext cx="2463800" cy="3635885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lide03_came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6100" y="2284157"/>
            <a:ext cx="2336800" cy="350888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07200" y="5956300"/>
            <a:ext cx="2514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64748B"/>
                </a:solidFill>
                <a:latin typeface="Arial"/>
              </a:defRPr>
            </a:pPr>
            <a:r>
              <a:t>Giao diện quét vở bài tập học sinh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900" b="1">
                <a:solidFill>
                  <a:srgbClr val="123B7A"/>
                </a:solidFill>
                <a:latin typeface="Arial"/>
              </a:defRPr>
            </a:pPr>
            <a:r>
              <a:t>Kiến Trúc Đa Tầng Chuẩn Doanh Nghiệp (Multi-Tier Architecture)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HANDAI — CAPSTONE DEFENSE  |  KIẾN TRÚC HỆ THỐNG TỔNG THỂ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8000" y="2095500"/>
            <a:ext cx="3937000" cy="4191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101600" bIns="101600"/>
          <a:lstStyle/>
          <a:p>
            <a:pPr algn="ctr">
              <a:spcAft>
                <a:spcPts val="500"/>
              </a:spcAft>
              <a:defRPr sz="1150" b="1">
                <a:solidFill>
                  <a:srgbClr val="123B7A"/>
                </a:solidFill>
                <a:latin typeface="Arial"/>
              </a:defRPr>
            </a:pPr>
            <a:r>
              <a:t>Phân Trách Nhiệm 4 Tầng Hệ Thống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  <a:latin typeface="Arial"/>
              </a:rPr>
              <a:t>▸ </a:t>
            </a:r>
            <a:r>
              <a:rPr sz="1000" b="1">
                <a:solidFill>
                  <a:srgbClr val="1E293B"/>
                </a:solidFill>
                <a:latin typeface="Arial"/>
              </a:rPr>
              <a:t>Tier 1 (Presentation): </a:t>
            </a:r>
            <a:r>
              <a:rPr sz="950">
                <a:solidFill>
                  <a:srgbClr val="475569"/>
                </a:solidFill>
                <a:latin typeface="Arial"/>
              </a:rPr>
              <a:t>React Native &amp; Expo 51, TypeScript; chụp ảnh, nắn góc và dashboard phân tích di động trực quan.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  <a:latin typeface="Arial"/>
              </a:rPr>
              <a:t>▸ </a:t>
            </a:r>
            <a:r>
              <a:rPr sz="1000" b="1">
                <a:solidFill>
                  <a:srgbClr val="1E293B"/>
                </a:solidFill>
                <a:latin typeface="Arial"/>
              </a:rPr>
              <a:t>Tier 2 (Gateway): </a:t>
            </a:r>
            <a:r>
              <a:rPr sz="950">
                <a:solidFill>
                  <a:srgbClr val="475569"/>
                </a:solidFill>
                <a:latin typeface="Arial"/>
              </a:rPr>
              <a:t>Spring Boot 3.3, Java 17; bảo mật JWT RBAC, điều phối phiên OCR trial, kết nối lưu trữ MinIO S3.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  <a:latin typeface="Arial"/>
              </a:rPr>
              <a:t>▸ </a:t>
            </a:r>
            <a:r>
              <a:rPr sz="1000" b="1">
                <a:solidFill>
                  <a:srgbClr val="1E293B"/>
                </a:solidFill>
                <a:latin typeface="Arial"/>
              </a:rPr>
              <a:t>Tier 3 (AI Inference): </a:t>
            </a:r>
            <a:r>
              <a:rPr sz="950">
                <a:solidFill>
                  <a:srgbClr val="475569"/>
                </a:solidFill>
                <a:latin typeface="Arial"/>
              </a:rPr>
              <a:t>FastAPI, PyTorch 2.2; pipeline CLAHE/HPP, mô hình CRNN-v1.2, trọng tài sửa lỗi Dual-LLM.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  <a:latin typeface="Arial"/>
              </a:rPr>
              <a:t>▸ </a:t>
            </a:r>
            <a:r>
              <a:rPr sz="1000" b="1">
                <a:solidFill>
                  <a:srgbClr val="1E293B"/>
                </a:solidFill>
                <a:latin typeface="Arial"/>
              </a:rPr>
              <a:t>Tier 4 (Persistence): </a:t>
            </a:r>
            <a:r>
              <a:rPr sz="950">
                <a:solidFill>
                  <a:srgbClr val="475569"/>
                </a:solidFill>
                <a:latin typeface="Arial"/>
              </a:rPr>
              <a:t>PostgreSQL 16 &amp; MinIO S3; truy vấn Big Data hàng triệu token, ẩn danh hóa bảo mật PII học sinh.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  <a:latin typeface="Arial"/>
              </a:rPr>
              <a:t>▸ </a:t>
            </a:r>
            <a:r>
              <a:rPr sz="1000" b="1">
                <a:solidFill>
                  <a:srgbClr val="1E293B"/>
                </a:solidFill>
                <a:latin typeface="Arial"/>
              </a:rPr>
              <a:t>Thiết kế mở rộng: </a:t>
            </a:r>
            <a:r>
              <a:rPr sz="950">
                <a:solidFill>
                  <a:srgbClr val="475569"/>
                </a:solidFill>
                <a:latin typeface="Arial"/>
              </a:rPr>
              <a:t>Kiến trúc phân tầng độc lập (Loose coupling) sẵn sàng trích xuất microservice độc lập.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35500" y="2095500"/>
            <a:ext cx="4762500" cy="4191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lide04_architec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7100" y="2336461"/>
            <a:ext cx="4559300" cy="340427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711700" y="5956300"/>
            <a:ext cx="46101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64748B"/>
                </a:solidFill>
                <a:latin typeface="Arial"/>
              </a:defRPr>
            </a:pPr>
            <a:r>
              <a:t>Sơ đồ kiến trúc 4-Tier Enterprise AI System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900" b="1">
                <a:solidFill>
                  <a:srgbClr val="123B7A"/>
                </a:solidFill>
                <a:latin typeface="Arial"/>
              </a:defRPr>
            </a:pPr>
            <a:r>
              <a:t>Pipeline 7 Giai Đoạn Từ Ảnh Chụp Đến Báo Cáo Sư Phạm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HANDAI — CAPSTONE DEFENSE  |  QUY TRÌNH XỬ LÝ AI TOÀN DIỆN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8000" y="2095500"/>
            <a:ext cx="4699000" cy="4191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101600" bIns="101600"/>
          <a:lstStyle/>
          <a:p>
            <a:pPr algn="ctr">
              <a:spcAft>
                <a:spcPts val="500"/>
              </a:spcAft>
              <a:defRPr sz="1150" b="1">
                <a:solidFill>
                  <a:srgbClr val="123B7A"/>
                </a:solidFill>
                <a:latin typeface="Arial"/>
              </a:defRPr>
            </a:pPr>
            <a:r>
              <a:t>Quy Trình Pipeline Xử Lý Khép Kín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  <a:latin typeface="Arial"/>
              </a:rPr>
              <a:t>▸ </a:t>
            </a:r>
            <a:r>
              <a:rPr sz="1000" b="1">
                <a:solidFill>
                  <a:srgbClr val="1E293B"/>
                </a:solidFill>
                <a:latin typeface="Arial"/>
              </a:rPr>
              <a:t>Giai đoạn 1 (Ingestion): </a:t>
            </a:r>
            <a:r>
              <a:rPr sz="950">
                <a:solidFill>
                  <a:srgbClr val="475569"/>
                </a:solidFill>
                <a:latin typeface="Arial"/>
              </a:rPr>
              <a:t>Tiếp nhận ảnh camera di động, chuẩn hóa không gian màu RGB.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  <a:latin typeface="Arial"/>
              </a:rPr>
              <a:t>▸ </a:t>
            </a:r>
            <a:r>
              <a:rPr sz="1000" b="1">
                <a:solidFill>
                  <a:srgbClr val="1E293B"/>
                </a:solidFill>
                <a:latin typeface="Arial"/>
              </a:rPr>
              <a:t>Giai đoạn 2 (Tiền xử lý): </a:t>
            </a:r>
            <a:r>
              <a:rPr sz="950">
                <a:solidFill>
                  <a:srgbClr val="475569"/>
                </a:solidFill>
                <a:latin typeface="Arial"/>
              </a:rPr>
              <a:t>CLAHE tăng tương phản nét mực, phép toán hình thái học khử lưới kẻ ô ly.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  <a:latin typeface="Arial"/>
              </a:rPr>
              <a:t>▸ </a:t>
            </a:r>
            <a:r>
              <a:rPr sz="1000" b="1">
                <a:solidFill>
                  <a:srgbClr val="1E293B"/>
                </a:solidFill>
                <a:latin typeface="Arial"/>
              </a:rPr>
              <a:t>Giai đoạn 3 (Phân đoạn HPP): </a:t>
            </a:r>
            <a:r>
              <a:rPr sz="950">
                <a:solidFill>
                  <a:srgbClr val="475569"/>
                </a:solidFill>
                <a:latin typeface="Arial"/>
              </a:rPr>
              <a:t>Chiếu ngang xác định dòng; Satellite Filter tự động gộp dấu thanh trôi nổi.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  <a:latin typeface="Arial"/>
              </a:rPr>
              <a:t>▸ </a:t>
            </a:r>
            <a:r>
              <a:rPr sz="1000" b="1">
                <a:solidFill>
                  <a:srgbClr val="1E293B"/>
                </a:solidFill>
                <a:latin typeface="Arial"/>
              </a:rPr>
              <a:t>Giai đoạn 4 (Chuẩn hóa dòng): </a:t>
            </a:r>
            <a:r>
              <a:rPr sz="950">
                <a:solidFill>
                  <a:srgbClr val="475569"/>
                </a:solidFill>
                <a:latin typeface="Arial"/>
              </a:rPr>
              <a:t>Đưa ảnh cắt lát về kích thước chuẩn H=32px, zero-padding tỷ lệ khung hình.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  <a:latin typeface="Arial"/>
              </a:rPr>
              <a:t>▸ </a:t>
            </a:r>
            <a:r>
              <a:rPr sz="1000" b="1">
                <a:solidFill>
                  <a:srgbClr val="1E293B"/>
                </a:solidFill>
                <a:latin typeface="Arial"/>
              </a:rPr>
              <a:t>Giai đoạn 5 (CRNN Inference): </a:t>
            </a:r>
            <a:r>
              <a:rPr sz="950">
                <a:solidFill>
                  <a:srgbClr val="475569"/>
                </a:solidFill>
                <a:latin typeface="Arial"/>
              </a:rPr>
              <a:t>ResNet-34 + 2-layer BiLSTM + CTC trích xuất đặc trưng &amp; giải mã văn bản.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  <a:latin typeface="Arial"/>
              </a:rPr>
              <a:t>▸ </a:t>
            </a:r>
            <a:r>
              <a:rPr sz="1000" b="1">
                <a:solidFill>
                  <a:srgbClr val="1E293B"/>
                </a:solidFill>
                <a:latin typeface="Arial"/>
              </a:rPr>
              <a:t>Giai đoạn 6 (AI Correction): </a:t>
            </a:r>
            <a:r>
              <a:rPr sz="950">
                <a:solidFill>
                  <a:srgbClr val="475569"/>
                </a:solidFill>
                <a:latin typeface="Arial"/>
              </a:rPr>
              <a:t>Trọng tài Llama-3.3-70b + Gemini-4B phục hồi lỗi ngữ cảnh tiếng Việt.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  <a:latin typeface="Arial"/>
              </a:rPr>
              <a:t>▸ </a:t>
            </a:r>
            <a:r>
              <a:rPr sz="1000" b="1">
                <a:solidFill>
                  <a:srgbClr val="1E293B"/>
                </a:solidFill>
                <a:latin typeface="Arial"/>
              </a:rPr>
              <a:t>Giai đoạn 7 (Analytics): </a:t>
            </a:r>
            <a:r>
              <a:rPr sz="950">
                <a:solidFill>
                  <a:srgbClr val="475569"/>
                </a:solidFill>
                <a:latin typeface="Arial"/>
              </a:rPr>
              <a:t>Thuật toán Levenshtein tính CER/WER và cập nhật Dashboard sư phạm thời gian thực.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61000" y="2095500"/>
            <a:ext cx="3937000" cy="4191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lide05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5716" y="2197100"/>
            <a:ext cx="3047567" cy="3683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537200" y="5956300"/>
            <a:ext cx="3784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64748B"/>
                </a:solidFill>
                <a:latin typeface="Arial"/>
              </a:defRPr>
            </a:pPr>
            <a:r>
              <a:t>Minh họa phân đoạn dòng vật lý trên giấy kẻ ô ly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900" b="1">
                <a:solidFill>
                  <a:srgbClr val="123B7A"/>
                </a:solidFill>
                <a:latin typeface="Arial"/>
              </a:defRPr>
            </a:pPr>
            <a:r>
              <a:t>Tập Dữ Liệu HandAI-v1.2: Cấu Trúc, Phân Bố &amp; Chuẩn Hóa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HANDAI — CAPSTONE DEFENSE  |  DỮ LIỆU HUẤN LUYỆN &amp; KIỂM THỬ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8000" y="2095500"/>
            <a:ext cx="4826000" cy="4191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101600" bIns="101600"/>
          <a:lstStyle/>
          <a:p>
            <a:pPr algn="ctr">
              <a:spcAft>
                <a:spcPts val="500"/>
              </a:spcAft>
              <a:defRPr sz="1150" b="1">
                <a:solidFill>
                  <a:srgbClr val="123B7A"/>
                </a:solidFill>
                <a:latin typeface="Arial"/>
              </a:defRPr>
            </a:pPr>
            <a:r>
              <a:t>Quy Mô &amp; Đặc Trưng Tập Dữ Liệu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  <a:latin typeface="Arial"/>
              </a:rPr>
              <a:t>▸ </a:t>
            </a:r>
            <a:r>
              <a:rPr sz="1000" b="1">
                <a:solidFill>
                  <a:srgbClr val="1E293B"/>
                </a:solidFill>
                <a:latin typeface="Arial"/>
              </a:rPr>
              <a:t>Quy mô 59,747 dòng: </a:t>
            </a:r>
            <a:r>
              <a:rPr sz="950">
                <a:solidFill>
                  <a:srgbClr val="475569"/>
                </a:solidFill>
                <a:latin typeface="Arial"/>
              </a:rPr>
              <a:t>Train (70% - 41,823), Val (20% - 11,949), Test (10% - 5,975 dòng độc lập hoàn toàn).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  <a:latin typeface="Arial"/>
              </a:rPr>
              <a:t>▸ </a:t>
            </a:r>
            <a:r>
              <a:rPr sz="1000" b="1">
                <a:solidFill>
                  <a:srgbClr val="1E293B"/>
                </a:solidFill>
                <a:latin typeface="Arial"/>
              </a:rPr>
              <a:t>Phân bố độ tuổi Khối 1–5: </a:t>
            </a:r>
            <a:r>
              <a:rPr sz="950">
                <a:solidFill>
                  <a:srgbClr val="475569"/>
                </a:solidFill>
                <a:latin typeface="Arial"/>
              </a:rPr>
              <a:t>Lớp 1 (18%), Lớp 2 (24%), Lớp 3 (26%), Lớp 4–5 (32% nét thanh đậm/chữ thảo).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  <a:latin typeface="Arial"/>
              </a:rPr>
              <a:t>▸ </a:t>
            </a:r>
            <a:r>
              <a:rPr sz="1000" b="1">
                <a:solidFill>
                  <a:srgbClr val="1E293B"/>
                </a:solidFill>
                <a:latin typeface="Arial"/>
              </a:rPr>
              <a:t>4 Nhóm hình thái chữ: </a:t>
            </a:r>
            <a:r>
              <a:rPr sz="950">
                <a:solidFill>
                  <a:srgbClr val="475569"/>
                </a:solidFill>
                <a:latin typeface="Arial"/>
              </a:rPr>
              <a:t>Chữ in chuẩn (28%), chữ nghiêng (37%), chữ viết nhanh (22%), chữ nối nét ligature (13%).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  <a:latin typeface="Arial"/>
              </a:rPr>
              <a:t>▸ </a:t>
            </a:r>
            <a:r>
              <a:rPr sz="1000" b="1">
                <a:solidFill>
                  <a:srgbClr val="1E293B"/>
                </a:solidFill>
                <a:latin typeface="Arial"/>
              </a:rPr>
              <a:t>Chất lượng &amp; Đạo đức: </a:t>
            </a:r>
            <a:r>
              <a:rPr sz="950">
                <a:solidFill>
                  <a:srgbClr val="475569"/>
                </a:solidFill>
                <a:latin typeface="Arial"/>
              </a:rPr>
              <a:t>Tỷ lệ trùng lặp chỉ 0.4% (lọc pHash); ẩn danh hóa 100% PII danh tính học sinh.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  <a:latin typeface="Arial"/>
              </a:rPr>
              <a:t>▸ </a:t>
            </a:r>
            <a:r>
              <a:rPr sz="1000" b="1">
                <a:solidFill>
                  <a:srgbClr val="1E293B"/>
                </a:solidFill>
                <a:latin typeface="Arial"/>
              </a:rPr>
              <a:t>Không gian nhãn 320 lớp: </a:t>
            </a:r>
            <a:r>
              <a:rPr sz="950">
                <a:solidFill>
                  <a:srgbClr val="475569"/>
                </a:solidFill>
                <a:latin typeface="Arial"/>
              </a:rPr>
              <a:t>Chuẩn hóa Unicode NFC đầy đủ chữ cái tiếng Việt, dấu thanh và ký hiệu toán học.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88000" y="2095500"/>
            <a:ext cx="3810000" cy="4191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lide06_datas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9600" y="2347912"/>
            <a:ext cx="3606800" cy="33813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4200" y="5956300"/>
            <a:ext cx="3657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64748B"/>
                </a:solidFill>
                <a:latin typeface="Arial"/>
              </a:defRPr>
            </a:pPr>
            <a:r>
              <a:t>Mẫu dữ liệu thực nghiệm chữ viết tay tiểu học HandAI-v1.2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900" b="1">
                <a:solidFill>
                  <a:srgbClr val="123B7A"/>
                </a:solidFill>
                <a:latin typeface="Arial"/>
              </a:defRPr>
            </a:pPr>
            <a:r>
              <a:t>Kiến Trúc Mô Hình CRNN-v1.2-PyTorch (5.96M Tham Số)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HANDAI — CAPSTONE DEFENSE  |  MÔ HÌNH HỌC SÂU CỐT LÕI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8000" y="2095500"/>
            <a:ext cx="3937000" cy="4191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101600" bIns="101600"/>
          <a:lstStyle/>
          <a:p>
            <a:pPr algn="ctr">
              <a:spcAft>
                <a:spcPts val="500"/>
              </a:spcAft>
              <a:defRPr sz="1150" b="1">
                <a:solidFill>
                  <a:srgbClr val="123B7A"/>
                </a:solidFill>
                <a:latin typeface="Arial"/>
              </a:defRPr>
            </a:pPr>
            <a:r>
              <a:t>Đặc Tả Kỹ Thuật Mô Hình Deep Learning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  <a:latin typeface="Arial"/>
              </a:rPr>
              <a:t>▸ </a:t>
            </a:r>
            <a:r>
              <a:rPr sz="1000" b="1">
                <a:solidFill>
                  <a:srgbClr val="1E293B"/>
                </a:solidFill>
                <a:latin typeface="Arial"/>
              </a:rPr>
              <a:t>Backbone CNN (ResNet-34): </a:t>
            </a:r>
            <a:r>
              <a:rPr sz="950">
                <a:solidFill>
                  <a:srgbClr val="475569"/>
                </a:solidFill>
                <a:latin typeface="Arial"/>
              </a:rPr>
              <a:t>5 khối tích chập trích xuất đặc trưng đa tỷ lệ; GroupNorm giúp ổn định khi batch size nhỏ.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  <a:latin typeface="Arial"/>
              </a:rPr>
              <a:t>▸ </a:t>
            </a:r>
            <a:r>
              <a:rPr sz="1000" b="1">
                <a:solidFill>
                  <a:srgbClr val="1E293B"/>
                </a:solidFill>
                <a:latin typeface="Arial"/>
              </a:rPr>
              <a:t>Max-pooling bất đối xứng: </a:t>
            </a:r>
            <a:r>
              <a:rPr sz="950">
                <a:solidFill>
                  <a:srgbClr val="475569"/>
                </a:solidFill>
                <a:latin typeface="Arial"/>
              </a:rPr>
              <a:t>Áp dụng stride 2x1 bảo toàn tối đa độ phân giải chiều ngang của dòng chữ.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  <a:latin typeface="Arial"/>
              </a:rPr>
              <a:t>▸ </a:t>
            </a:r>
            <a:r>
              <a:rPr sz="1000" b="1">
                <a:solidFill>
                  <a:srgbClr val="1E293B"/>
                </a:solidFill>
                <a:latin typeface="Arial"/>
              </a:rPr>
              <a:t>BiLSTM 2 lớp (512 chiều): </a:t>
            </a:r>
            <a:r>
              <a:rPr sz="950">
                <a:solidFill>
                  <a:srgbClr val="475569"/>
                </a:solidFill>
                <a:latin typeface="Arial"/>
              </a:rPr>
              <a:t>Kích thước ẩn 256 chiều mỗi hướng; nắm bắt ngữ cảnh ký tự 2 chiều trước-sau.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  <a:latin typeface="Arial"/>
              </a:rPr>
              <a:t>▸ </a:t>
            </a:r>
            <a:r>
              <a:rPr sz="1000" b="1">
                <a:solidFill>
                  <a:srgbClr val="1E293B"/>
                </a:solidFill>
                <a:latin typeface="Arial"/>
              </a:rPr>
              <a:t>CTC Loss Transcription: </a:t>
            </a:r>
            <a:r>
              <a:rPr sz="950">
                <a:solidFill>
                  <a:srgbClr val="475569"/>
                </a:solidFill>
                <a:latin typeface="Arial"/>
              </a:rPr>
              <a:t>Ánh xạ chuỗi đặc trưng sang nhãn mà không cần căn chỉnh từng vị trí ký tự.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  <a:latin typeface="Arial"/>
              </a:rPr>
              <a:t>▸ </a:t>
            </a:r>
            <a:r>
              <a:rPr sz="1000" b="1">
                <a:solidFill>
                  <a:srgbClr val="1E293B"/>
                </a:solidFill>
                <a:latin typeface="Arial"/>
              </a:rPr>
              <a:t>Tối ưu hóa siêu nhẹ: </a:t>
            </a:r>
            <a:r>
              <a:rPr sz="950">
                <a:solidFill>
                  <a:srgbClr val="475569"/>
                </a:solidFill>
                <a:latin typeface="Arial"/>
              </a:rPr>
              <a:t>5.96M tham số, file trọng số 23.8 MB, thời gian suy luận chỉ 42 ms/dòng trên CPU.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35500" y="2095500"/>
            <a:ext cx="4762500" cy="4191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lide07_crn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7100" y="2336461"/>
            <a:ext cx="4559300" cy="340427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711700" y="5956300"/>
            <a:ext cx="46101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64748B"/>
                </a:solidFill>
                <a:latin typeface="Arial"/>
              </a:defRPr>
            </a:pPr>
            <a:r>
              <a:t>Sơ đồ kiến trúc mạng nơ-ron CRNN Vietnamese Handwriting OCR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900" b="1">
                <a:solidFill>
                  <a:srgbClr val="123B7A"/>
                </a:solidFill>
                <a:latin typeface="Arial"/>
              </a:defRPr>
            </a:pPr>
            <a:r>
              <a:t>Cơ Chế Trọng Tài Sửa Lỗi Ngữ Cảnh Đa Đồng Thuận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07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HANDAI — CAPSTONE DEFENSE  |  TẦNG TRỌNG TÀI SỬA LỖI 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8000" y="2095500"/>
            <a:ext cx="5969000" cy="4191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101600" bIns="101600"/>
          <a:lstStyle/>
          <a:p>
            <a:pPr algn="ctr">
              <a:spcAft>
                <a:spcPts val="500"/>
              </a:spcAft>
              <a:defRPr sz="1150" b="1">
                <a:solidFill>
                  <a:srgbClr val="123B7A"/>
                </a:solidFill>
                <a:latin typeface="Arial"/>
              </a:defRPr>
            </a:pPr>
            <a:r>
              <a:t>Nguyên Lý &amp; Hiệu Quả Tầng Sửa Lỗi AI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  <a:latin typeface="Arial"/>
              </a:rPr>
              <a:t>▸ </a:t>
            </a:r>
            <a:r>
              <a:rPr sz="1000" b="1">
                <a:solidFill>
                  <a:srgbClr val="1E293B"/>
                </a:solidFill>
                <a:latin typeface="Arial"/>
              </a:rPr>
              <a:t>Phân luồng thông minh (Fast-path / Deep-path): </a:t>
            </a:r>
            <a:r>
              <a:rPr sz="950">
                <a:solidFill>
                  <a:srgbClr val="475569"/>
                </a:solidFill>
                <a:latin typeface="Arial"/>
              </a:rPr>
              <a:t>Độ tin cậy CRNN ≥ 0.90 → Chấp nhận ngay (42ms); &lt; 0.90 → Kích hoạt trọng tài AI.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  <a:latin typeface="Arial"/>
              </a:rPr>
              <a:t>▸ </a:t>
            </a:r>
            <a:r>
              <a:rPr sz="1000" b="1">
                <a:solidFill>
                  <a:srgbClr val="1E293B"/>
                </a:solidFill>
                <a:latin typeface="Arial"/>
              </a:rPr>
              <a:t>Cặp LLM song hành: </a:t>
            </a:r>
            <a:r>
              <a:rPr sz="950">
                <a:solidFill>
                  <a:srgbClr val="475569"/>
                </a:solidFill>
                <a:latin typeface="Arial"/>
              </a:rPr>
              <a:t>Groq Llama-3.3-70b (sửa lỗi chính tả siêu nhanh &gt;300 t/s) + Gemini-4B (chuyên sâu ngữ nghĩa tiếng Việt).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  <a:latin typeface="Arial"/>
              </a:rPr>
              <a:t>▸ </a:t>
            </a:r>
            <a:r>
              <a:rPr sz="1000" b="1">
                <a:solidFill>
                  <a:srgbClr val="1E293B"/>
                </a:solidFill>
                <a:latin typeface="Arial"/>
              </a:rPr>
              <a:t>Quy tắc bỏ phiếu đồng thuận: </a:t>
            </a:r>
            <a:r>
              <a:rPr sz="950">
                <a:solidFill>
                  <a:srgbClr val="475569"/>
                </a:solidFill>
                <a:latin typeface="Arial"/>
              </a:rPr>
              <a:t>Đồng thuận 2/2 → Chấp thuận; bất đồng → Tính khoảng cách Levenshtein với từ điển Bộ GD&amp;ĐT.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  <a:latin typeface="Arial"/>
              </a:rPr>
              <a:t>▸ </a:t>
            </a:r>
            <a:r>
              <a:rPr sz="1000" b="1">
                <a:solidFill>
                  <a:srgbClr val="1E293B"/>
                </a:solidFill>
                <a:latin typeface="Arial"/>
              </a:rPr>
              <a:t>Chống ảo giác tuyệt đối: </a:t>
            </a:r>
            <a:r>
              <a:rPr sz="950">
                <a:solidFill>
                  <a:srgbClr val="475569"/>
                </a:solidFill>
                <a:latin typeface="Arial"/>
              </a:rPr>
              <a:t>Khóa chặt không gian sinh từ; tuyệt đối không thay đổi cấu trúc câu văn bản gốc của học sinh.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  <a:latin typeface="Arial"/>
              </a:rPr>
              <a:t>▸ </a:t>
            </a:r>
            <a:r>
              <a:rPr sz="1000" b="1">
                <a:solidFill>
                  <a:srgbClr val="1E293B"/>
                </a:solidFill>
                <a:latin typeface="Arial"/>
              </a:rPr>
              <a:t>Tỷ lệ cứu lỗi vượt bậc: </a:t>
            </a:r>
            <a:r>
              <a:rPr sz="950">
                <a:solidFill>
                  <a:srgbClr val="475569"/>
                </a:solidFill>
                <a:latin typeface="Arial"/>
              </a:rPr>
              <a:t>Đạt 67.0% trên các dòng lỗi ban đầu; nâng Line Accuracy từ 82.0% lên 94.0% (+12.0% net lift).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  <a:latin typeface="Arial"/>
              </a:rPr>
              <a:t>▸ </a:t>
            </a:r>
            <a:r>
              <a:rPr sz="1000" b="1">
                <a:solidFill>
                  <a:srgbClr val="1E293B"/>
                </a:solidFill>
                <a:latin typeface="Arial"/>
              </a:rPr>
              <a:t>Cơ chế Fallback an toàn: </a:t>
            </a:r>
            <a:r>
              <a:rPr sz="950">
                <a:solidFill>
                  <a:srgbClr val="475569"/>
                </a:solidFill>
                <a:latin typeface="Arial"/>
              </a:rPr>
              <a:t>Tự động chuyển về bộ quy tắc heuristic nội bộ nếu kết nối internet gặp sự cố.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31000" y="2095500"/>
            <a:ext cx="2667000" cy="4191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32600" y="2220657"/>
            <a:ext cx="2463800" cy="3635885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lide08_corr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6100" y="2284157"/>
            <a:ext cx="2336800" cy="350888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07200" y="5956300"/>
            <a:ext cx="2514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64748B"/>
                </a:solidFill>
                <a:latin typeface="Arial"/>
              </a:defRPr>
            </a:pPr>
            <a:r>
              <a:t>Kết quả đối soát OCR &amp; Sửa lỗi AI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900" b="1">
                <a:solidFill>
                  <a:srgbClr val="123B7A"/>
                </a:solidFill>
                <a:latin typeface="Arial"/>
              </a:defRPr>
            </a:pPr>
            <a:r>
              <a:t>Hệ Thống Phân Tích Big Data 3 Tầng &amp; Hiệu Chuẩn ECE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08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HANDAI — CAPSTONE DEFENSE  |  PHÂN TÍCH DỮ LIỆU LỚN &amp; ĐỘ TIN CẬY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8000" y="2095500"/>
            <a:ext cx="4318000" cy="4191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101600" bIns="101600"/>
          <a:lstStyle/>
          <a:p>
            <a:pPr algn="ctr">
              <a:spcAft>
                <a:spcPts val="500"/>
              </a:spcAft>
              <a:defRPr sz="1150" b="1">
                <a:solidFill>
                  <a:srgbClr val="123B7A"/>
                </a:solidFill>
                <a:latin typeface="Arial"/>
              </a:defRPr>
            </a:pPr>
            <a:r>
              <a:t>Cấu Trúc Phân Tích &amp; Kiểm Định ECE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  <a:latin typeface="Arial"/>
              </a:rPr>
              <a:t>▸ </a:t>
            </a:r>
            <a:r>
              <a:rPr sz="1000" b="1">
                <a:solidFill>
                  <a:srgbClr val="1E293B"/>
                </a:solidFill>
                <a:latin typeface="Arial"/>
              </a:rPr>
              <a:t>Tầng 1 (Trial Level): </a:t>
            </a:r>
            <a:r>
              <a:rPr sz="950">
                <a:solidFill>
                  <a:srgbClr val="475569"/>
                </a:solidFill>
                <a:latin typeface="Arial"/>
              </a:rPr>
              <a:t>Phân tích thời gian thực CER/WER từng dòng nộp bài qua thuật toán quy hoạch động Levenshtein.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  <a:latin typeface="Arial"/>
              </a:rPr>
              <a:t>▸ </a:t>
            </a:r>
            <a:r>
              <a:rPr sz="1000" b="1">
                <a:solidFill>
                  <a:srgbClr val="1E293B"/>
                </a:solidFill>
                <a:latin typeface="Arial"/>
              </a:rPr>
              <a:t>Tầng 2 (Session Level): </a:t>
            </a:r>
            <a:r>
              <a:rPr sz="950">
                <a:solidFill>
                  <a:srgbClr val="475569"/>
                </a:solidFill>
                <a:latin typeface="Arial"/>
              </a:rPr>
              <a:t>Tổng hợp kết quả toàn bộ trang vở bài tập, phân tích phân phối lỗi theo vị trí dòng.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  <a:latin typeface="Arial"/>
              </a:rPr>
              <a:t>▸ </a:t>
            </a:r>
            <a:r>
              <a:rPr sz="1000" b="1">
                <a:solidFill>
                  <a:srgbClr val="1E293B"/>
                </a:solidFill>
                <a:latin typeface="Arial"/>
              </a:rPr>
              <a:t>Tầng 3 (Global Level): </a:t>
            </a:r>
            <a:r>
              <a:rPr sz="950">
                <a:solidFill>
                  <a:srgbClr val="475569"/>
                </a:solidFill>
                <a:latin typeface="Arial"/>
              </a:rPr>
              <a:t>Phân tích xu hướng dài hạn theo khối lớp 1–5, vi tích lũy ký tự (micro-averaging) toàn hệ thống.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  <a:latin typeface="Arial"/>
              </a:rPr>
              <a:t>▸ </a:t>
            </a:r>
            <a:r>
              <a:rPr sz="1000" b="1">
                <a:solidFill>
                  <a:srgbClr val="1E293B"/>
                </a:solidFill>
                <a:latin typeface="Arial"/>
              </a:rPr>
              <a:t>Kiểm định hiệu chuẩn 5-Bin ECE: </a:t>
            </a:r>
            <a:r>
              <a:rPr sz="950">
                <a:solidFill>
                  <a:srgbClr val="475569"/>
                </a:solidFill>
                <a:latin typeface="Arial"/>
              </a:rPr>
              <a:t>Expected Calibration Error đạt chuẩn đơn điệu nghiêm ngặt trên cả 5 khoảng xác suất: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  <a:latin typeface="Arial"/>
              </a:rPr>
              <a:t>▸ </a:t>
            </a:r>
            <a:r>
              <a:rPr sz="1000" b="1">
                <a:solidFill>
                  <a:srgbClr val="1E293B"/>
                </a:solidFill>
                <a:latin typeface="Arial"/>
              </a:rPr>
              <a:t>• Bin 1 (0.0–0.2): </a:t>
            </a:r>
            <a:r>
              <a:rPr sz="950">
                <a:solidFill>
                  <a:srgbClr val="475569"/>
                </a:solidFill>
                <a:latin typeface="Arial"/>
              </a:rPr>
              <a:t>15.2%  |  Bin 2 (0.2–0.4): 34.8%  |  Bin 3 (0.4–0.6): 53.5%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  <a:latin typeface="Arial"/>
              </a:rPr>
              <a:t>▸ </a:t>
            </a:r>
            <a:r>
              <a:rPr sz="1000" b="1">
                <a:solidFill>
                  <a:srgbClr val="1E293B"/>
                </a:solidFill>
                <a:latin typeface="Arial"/>
              </a:rPr>
              <a:t>• Bin 4 (0.6–0.8): </a:t>
            </a:r>
            <a:r>
              <a:rPr sz="950">
                <a:solidFill>
                  <a:srgbClr val="475569"/>
                </a:solidFill>
                <a:latin typeface="Arial"/>
              </a:rPr>
              <a:t>74.1%  |  Bin 5 (0.8–1.0): 95.8% (Độ chính xác thực tế)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  <a:latin typeface="Arial"/>
              </a:rPr>
              <a:t>▸ </a:t>
            </a:r>
            <a:r>
              <a:rPr sz="1000" b="1">
                <a:solidFill>
                  <a:srgbClr val="1E293B"/>
                </a:solidFill>
                <a:latin typeface="Arial"/>
              </a:rPr>
              <a:t>Chỉ số ECE tổng thể: </a:t>
            </a:r>
            <a:r>
              <a:rPr sz="950">
                <a:solidFill>
                  <a:srgbClr val="475569"/>
                </a:solidFill>
                <a:latin typeface="Arial"/>
              </a:rPr>
              <a:t>Đạt 0.042 (&lt;= 0.050), chứng minh mô hình không bị tự tin thái quá, cực kỳ tin cậy trong môi trường sư phạm.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80000" y="2095500"/>
            <a:ext cx="4318000" cy="4191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lide09_analytic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1600" y="2890283"/>
            <a:ext cx="4114800" cy="22966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156200" y="5956300"/>
            <a:ext cx="4165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64748B"/>
                </a:solidFill>
                <a:latin typeface="Arial"/>
              </a:defRPr>
            </a:pPr>
            <a:r>
              <a:t>HandAI Big Data Error &amp; Metrics Dashboard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900" b="1">
                <a:solidFill>
                  <a:srgbClr val="123B7A"/>
                </a:solidFill>
                <a:latin typeface="Arial"/>
              </a:defRPr>
            </a:pPr>
            <a:r>
              <a:t>Bộ Chỉ Số Đánh Giá &amp; Hiệu Năng Thực Nghiệm Toàn Diện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09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HANDAI — CAPSTONE DEFENSE  |  ĐÁNH GIÁ CHỈ SỐ &amp; HIỆU NĂNG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8000" y="2095500"/>
          <a:ext cx="5969000" cy="177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000"/>
                <a:gridCol w="1270000"/>
                <a:gridCol w="1397000"/>
                <a:gridCol w="1651000"/>
              </a:tblGrid>
              <a:tr h="296333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Chỉ Số Đánh Giá</a:t>
                      </a:r>
                    </a:p>
                  </a:txBody>
                  <a:tcPr>
                    <a:solidFill>
                      <a:srgbClr val="123B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Baseline (Tesseract)</a:t>
                      </a:r>
                    </a:p>
                  </a:txBody>
                  <a:tcPr>
                    <a:solidFill>
                      <a:srgbClr val="123B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HandAI Raw CRNN</a:t>
                      </a:r>
                    </a:p>
                  </a:txBody>
                  <a:tcPr>
                    <a:solidFill>
                      <a:srgbClr val="123B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HandAI Final (Full)</a:t>
                      </a:r>
                    </a:p>
                  </a:txBody>
                  <a:tcPr>
                    <a:solidFill>
                      <a:srgbClr val="123B7A"/>
                    </a:solidFill>
                  </a:tcPr>
                </a:tc>
              </a:tr>
              <a:tr h="296333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123B7A"/>
                          </a:solidFill>
                          <a:latin typeface="Arial"/>
                        </a:defRPr>
                      </a:pPr>
                      <a:r>
                        <a:t>Line Accuracy (%)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475569"/>
                          </a:solidFill>
                          <a:latin typeface="Arial"/>
                        </a:defRPr>
                      </a:pPr>
                      <a:r>
                        <a:t>58.4%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475569"/>
                          </a:solidFill>
                          <a:latin typeface="Arial"/>
                        </a:defRPr>
                      </a:pPr>
                      <a:r>
                        <a:t>82.0%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563EB"/>
                          </a:solidFill>
                          <a:latin typeface="Arial"/>
                        </a:defRPr>
                      </a:pPr>
                      <a:r>
                        <a:t>94.0% (+35.6%)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6333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123B7A"/>
                          </a:solidFill>
                          <a:latin typeface="Arial"/>
                        </a:defRPr>
                      </a:pPr>
                      <a:r>
                        <a:t>Character Accuracy (%)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475569"/>
                          </a:solidFill>
                          <a:latin typeface="Arial"/>
                        </a:defRPr>
                      </a:pPr>
                      <a:r>
                        <a:t>78.2%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475569"/>
                          </a:solidFill>
                          <a:latin typeface="Arial"/>
                        </a:defRPr>
                      </a:pPr>
                      <a:r>
                        <a:t>88.0%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563EB"/>
                          </a:solidFill>
                          <a:latin typeface="Arial"/>
                        </a:defRPr>
                      </a:pPr>
                      <a:r>
                        <a:t>95.0% (+16.8%)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296333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123B7A"/>
                          </a:solidFill>
                          <a:latin typeface="Arial"/>
                        </a:defRPr>
                      </a:pPr>
                      <a:r>
                        <a:t>Word Accuracy (%)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475569"/>
                          </a:solidFill>
                          <a:latin typeface="Arial"/>
                        </a:defRPr>
                      </a:pPr>
                      <a:r>
                        <a:t>65.1%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475569"/>
                          </a:solidFill>
                          <a:latin typeface="Arial"/>
                        </a:defRPr>
                      </a:pPr>
                      <a:r>
                        <a:t>80.0%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563EB"/>
                          </a:solidFill>
                          <a:latin typeface="Arial"/>
                        </a:defRPr>
                      </a:pPr>
                      <a:r>
                        <a:t>92.0% (+26.9%)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6333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123B7A"/>
                          </a:solidFill>
                          <a:latin typeface="Arial"/>
                        </a:defRPr>
                      </a:pPr>
                      <a:r>
                        <a:t>CER (Char Error Rate)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475569"/>
                          </a:solidFill>
                          <a:latin typeface="Arial"/>
                        </a:defRPr>
                      </a:pPr>
                      <a:r>
                        <a:t>21.8%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475569"/>
                          </a:solidFill>
                          <a:latin typeface="Arial"/>
                        </a:defRPr>
                      </a:pPr>
                      <a:r>
                        <a:t>12.0%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563EB"/>
                          </a:solidFill>
                          <a:latin typeface="Arial"/>
                        </a:defRPr>
                      </a:pPr>
                      <a:r>
                        <a:t>5.0% (-16.8%)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296335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123B7A"/>
                          </a:solidFill>
                          <a:latin typeface="Arial"/>
                        </a:defRPr>
                      </a:pPr>
                      <a:r>
                        <a:t>WER (Word Error Rate)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475569"/>
                          </a:solidFill>
                          <a:latin typeface="Arial"/>
                        </a:defRPr>
                      </a:pPr>
                      <a:r>
                        <a:t>34.9%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475569"/>
                          </a:solidFill>
                          <a:latin typeface="Arial"/>
                        </a:defRPr>
                      </a:pPr>
                      <a:r>
                        <a:t>20.0%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563EB"/>
                          </a:solidFill>
                          <a:latin typeface="Arial"/>
                        </a:defRPr>
                      </a:pPr>
                      <a:r>
                        <a:t>8.0% (-26.9%)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08000" y="4064000"/>
            <a:ext cx="5969000" cy="22225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101600" bIns="101600"/>
          <a:lstStyle/>
          <a:p>
            <a:pPr algn="ctr">
              <a:spcAft>
                <a:spcPts val="500"/>
              </a:spcAft>
              <a:defRPr sz="1150" b="1">
                <a:solidFill>
                  <a:srgbClr val="123B7A"/>
                </a:solidFill>
                <a:latin typeface="Arial"/>
              </a:defRPr>
            </a:pPr>
            <a:r>
              <a:t>Đúc Kết Hiệu Năng Thực Nghiệm Vượt Trội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  <a:latin typeface="Arial"/>
              </a:rPr>
              <a:t>▸ </a:t>
            </a:r>
            <a:r>
              <a:rPr sz="1000" b="1">
                <a:solidFill>
                  <a:srgbClr val="1E293B"/>
                </a:solidFill>
                <a:latin typeface="Arial"/>
              </a:rPr>
              <a:t>Giảm lỗi ký tự 4.3 lần: </a:t>
            </a:r>
            <a:r>
              <a:rPr sz="950">
                <a:solidFill>
                  <a:srgbClr val="475569"/>
                </a:solidFill>
                <a:latin typeface="Arial"/>
              </a:rPr>
              <a:t>CER giảm từ 21.8% (Tesseract) xuống chỉ còn 5.0% ở phiên bản HandAI hoàn chỉnh.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  <a:latin typeface="Arial"/>
              </a:rPr>
              <a:t>▸ </a:t>
            </a:r>
            <a:r>
              <a:rPr sz="1000" b="1">
                <a:solidFill>
                  <a:srgbClr val="1E293B"/>
                </a:solidFill>
                <a:latin typeface="Arial"/>
              </a:rPr>
              <a:t>Độ chính xác dòng đạt 94.0%: </a:t>
            </a:r>
            <a:r>
              <a:rPr sz="950">
                <a:solidFill>
                  <a:srgbClr val="475569"/>
                </a:solidFill>
                <a:latin typeface="Arial"/>
              </a:rPr>
              <a:t>Tăng trưởng vượt bậc +35.6% so với baseline thương mại, đáp ứng chuẩn triển khai trường học.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  <a:latin typeface="Arial"/>
              </a:rPr>
              <a:t>▸ </a:t>
            </a:r>
            <a:r>
              <a:rPr sz="1000" b="1">
                <a:solidFill>
                  <a:srgbClr val="1E293B"/>
                </a:solidFill>
                <a:latin typeface="Arial"/>
              </a:rPr>
              <a:t>Độ trễ tối ưu: </a:t>
            </a:r>
            <a:r>
              <a:rPr sz="950">
                <a:solidFill>
                  <a:srgbClr val="475569"/>
                </a:solidFill>
                <a:latin typeface="Arial"/>
              </a:rPr>
              <a:t>Đạt 180 ms/dòng ở chế độ kết hợp phân luồng thông minh; 42 ms/dòng trên CPU thông thường.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  <a:latin typeface="Arial"/>
              </a:rPr>
              <a:t>▸ </a:t>
            </a:r>
            <a:r>
              <a:rPr sz="1000" b="1">
                <a:solidFill>
                  <a:srgbClr val="1E293B"/>
                </a:solidFill>
                <a:latin typeface="Arial"/>
              </a:rPr>
              <a:t>Kiểm thử tự động 100%: </a:t>
            </a:r>
            <a:r>
              <a:rPr sz="950">
                <a:solidFill>
                  <a:srgbClr val="475569"/>
                </a:solidFill>
                <a:latin typeface="Arial"/>
              </a:rPr>
              <a:t>Toàn bộ 168 bài test Unit &amp; Integration đều vượt qua, bảo đảm tính ổn định tuyệt đối.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31000" y="2095500"/>
            <a:ext cx="2667000" cy="4191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32600" y="2220657"/>
            <a:ext cx="2463800" cy="3635885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lide10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6100" y="2284157"/>
            <a:ext cx="2336800" cy="350888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07200" y="5956300"/>
            <a:ext cx="2514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64748B"/>
                </a:solidFill>
                <a:latin typeface="Arial"/>
              </a:defRPr>
            </a:pPr>
            <a:r>
              <a:t>Giao diện chẩn đoán bài nộp học sinh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900" b="1">
                <a:solidFill>
                  <a:srgbClr val="123B7A"/>
                </a:solidFill>
                <a:latin typeface="Arial"/>
              </a:defRPr>
            </a:pPr>
            <a:r>
              <a:t>Thực Nghiệm Bóc Tách Các Thành Phần Hệ Thống (Ablation Study)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HANDAI — CAPSTONE DEFENSE  |  THỰC NGHIỆM ĐỐI CHỨNG (ABLATION)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8000" y="2095500"/>
            <a:ext cx="4191000" cy="4191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101600" bIns="101600"/>
          <a:lstStyle/>
          <a:p>
            <a:pPr algn="ctr">
              <a:spcAft>
                <a:spcPts val="500"/>
              </a:spcAft>
              <a:defRPr sz="1150" b="1">
                <a:solidFill>
                  <a:srgbClr val="123B7A"/>
                </a:solidFill>
                <a:latin typeface="Arial"/>
              </a:defRPr>
            </a:pPr>
            <a:r>
              <a:t>Đóng Góp Của Từng Thành Phần Hệ Thống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  <a:latin typeface="Arial"/>
              </a:rPr>
              <a:t>▸ </a:t>
            </a:r>
            <a:r>
              <a:rPr sz="1000" b="1">
                <a:solidFill>
                  <a:srgbClr val="1E293B"/>
                </a:solidFill>
                <a:latin typeface="Arial"/>
              </a:rPr>
              <a:t>Cấu hình 1 (Baseline CRNN): </a:t>
            </a:r>
            <a:r>
              <a:rPr sz="950">
                <a:solidFill>
                  <a:srgbClr val="475569"/>
                </a:solidFill>
                <a:latin typeface="Arial"/>
              </a:rPr>
              <a:t>68.5% LineAcc | 18.2% CER (mô hình cơ bản chưa có tiền xử lý nâng cao).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  <a:latin typeface="Arial"/>
              </a:rPr>
              <a:t>▸ </a:t>
            </a:r>
            <a:r>
              <a:rPr sz="1000" b="1">
                <a:solidFill>
                  <a:srgbClr val="1E293B"/>
                </a:solidFill>
                <a:latin typeface="Arial"/>
              </a:rPr>
              <a:t>Cấu hình 2 (+ Tiền xử lý CLAHE): </a:t>
            </a:r>
            <a:r>
              <a:rPr sz="950">
                <a:solidFill>
                  <a:srgbClr val="475569"/>
                </a:solidFill>
                <a:latin typeface="Arial"/>
              </a:rPr>
              <a:t>74.1% LineAcc (+5.6%) | 15.4% CER (tăng tương phản nét chữ, khử lưới ô ly).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  <a:latin typeface="Arial"/>
              </a:rPr>
              <a:t>▸ </a:t>
            </a:r>
            <a:r>
              <a:rPr sz="1000" b="1">
                <a:solidFill>
                  <a:srgbClr val="1E293B"/>
                </a:solidFill>
                <a:latin typeface="Arial"/>
              </a:rPr>
              <a:t>Cấu hình 3 (+ Satellite Filter): </a:t>
            </a:r>
            <a:r>
              <a:rPr sz="950">
                <a:solidFill>
                  <a:srgbClr val="475569"/>
                </a:solidFill>
                <a:latin typeface="Arial"/>
              </a:rPr>
              <a:t>82.0% LineAcc (+7.9%) | 12.0% CER (giải quyết triệt để lỗi dấu thanh bay).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  <a:latin typeface="Arial"/>
              </a:rPr>
              <a:t>▸ </a:t>
            </a:r>
            <a:r>
              <a:rPr sz="1000" b="1">
                <a:solidFill>
                  <a:srgbClr val="1E293B"/>
                </a:solidFill>
                <a:latin typeface="Arial"/>
              </a:rPr>
              <a:t>Cấu hình 4 (+ Heuristic Rule): </a:t>
            </a:r>
            <a:r>
              <a:rPr sz="950">
                <a:solidFill>
                  <a:srgbClr val="475569"/>
                </a:solidFill>
                <a:latin typeface="Arial"/>
              </a:rPr>
              <a:t>86.2% LineAcc (+4.2%) | 9.5% CER (tích hợp từ điển chính tả tiếng Việt).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  <a:latin typeface="Arial"/>
              </a:rPr>
              <a:t>▸ </a:t>
            </a:r>
            <a:r>
              <a:rPr sz="1000" b="1">
                <a:solidFill>
                  <a:srgbClr val="1E293B"/>
                </a:solidFill>
                <a:latin typeface="Arial"/>
              </a:rPr>
              <a:t>Cấu hình 5 (+ Dual-LLM HandAI): </a:t>
            </a:r>
            <a:r>
              <a:rPr sz="950">
                <a:solidFill>
                  <a:srgbClr val="475569"/>
                </a:solidFill>
                <a:latin typeface="Arial"/>
              </a:rPr>
              <a:t>94.0% LineAcc (+7.8%) | 5.0% CER (toàn bộ pipeline hoàn chỉnh).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  <a:latin typeface="Arial"/>
              </a:rPr>
              <a:t>▸ </a:t>
            </a:r>
            <a:r>
              <a:rPr sz="1000" b="1">
                <a:solidFill>
                  <a:srgbClr val="1E293B"/>
                </a:solidFill>
                <a:latin typeface="Arial"/>
              </a:rPr>
              <a:t>Kết luận: </a:t>
            </a:r>
            <a:r>
              <a:rPr sz="950">
                <a:solidFill>
                  <a:srgbClr val="475569"/>
                </a:solidFill>
                <a:latin typeface="Arial"/>
              </a:rPr>
              <a:t>Đóng góp lũy kế tăng vọt +25.5% LineAcc, tỷ lệ lỗi CER giảm 72.5% (từ 18.2% xuống 5.0%).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53000" y="2095500"/>
            <a:ext cx="4445000" cy="4191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lide11_abla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4600" y="2454994"/>
            <a:ext cx="4241800" cy="316721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0" y="5956300"/>
            <a:ext cx="4292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64748B"/>
                </a:solidFill>
                <a:latin typeface="Arial"/>
              </a:defRPr>
            </a:pPr>
            <a:r>
              <a:t>Biểu đồ lũy kế tăng trưởng độ chính xác qua 5 giai đoạn hoàn thiện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900" b="1">
                <a:solidFill>
                  <a:srgbClr val="123B7A"/>
                </a:solidFill>
                <a:latin typeface="Arial"/>
              </a:defRPr>
            </a:pPr>
            <a:r>
              <a:t>Phân Tích Căn Nguyên Lỗi &amp; Ứng Dụng Chẩn Đoán Sư Phạm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HANDAI — CAPSTONE DEFENSE  |  PHÂN TÍCH LỖI &amp; THẤU CẢM SƯ PHẠM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8000" y="2095500"/>
            <a:ext cx="5969000" cy="4191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101600" bIns="101600"/>
          <a:lstStyle/>
          <a:p>
            <a:pPr algn="ctr">
              <a:spcAft>
                <a:spcPts val="500"/>
              </a:spcAft>
              <a:defRPr sz="1150" b="1">
                <a:solidFill>
                  <a:srgbClr val="123B7A"/>
                </a:solidFill>
                <a:latin typeface="Arial"/>
              </a:defRPr>
            </a:pPr>
            <a:r>
              <a:t>8 Nhóm Lỗi Căn Nguyên &amp; Ứng Dụng Sư Phạm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  <a:latin typeface="Arial"/>
              </a:rPr>
              <a:t>▸ </a:t>
            </a:r>
            <a:r>
              <a:rPr sz="1000" b="1">
                <a:solidFill>
                  <a:srgbClr val="1E293B"/>
                </a:solidFill>
                <a:latin typeface="Arial"/>
              </a:rPr>
              <a:t>Lỗi dấu thanh (34.2%): </a:t>
            </a:r>
            <a:r>
              <a:rPr sz="950">
                <a:solidFill>
                  <a:srgbClr val="475569"/>
                </a:solidFill>
                <a:latin typeface="Arial"/>
              </a:rPr>
              <a:t>Nhầm lẫn hỏi/ngã, sắc/huyền do nét quá nhỏ hoặc chạm đường kẻ ô ly phía trên.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  <a:latin typeface="Arial"/>
              </a:rPr>
              <a:t>▸ </a:t>
            </a:r>
            <a:r>
              <a:rPr sz="1000" b="1">
                <a:solidFill>
                  <a:srgbClr val="1E293B"/>
                </a:solidFill>
                <a:latin typeface="Arial"/>
              </a:rPr>
              <a:t>Lỗi phụ âm tương đồng (18.6%): </a:t>
            </a:r>
            <a:r>
              <a:rPr sz="950">
                <a:solidFill>
                  <a:srgbClr val="475569"/>
                </a:solidFill>
                <a:latin typeface="Arial"/>
              </a:rPr>
              <a:t>Nhầm lẫn các cặp ký tự n ↔ m, u ↔ v, b ↔ d khi học sinh viết ẩu.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  <a:latin typeface="Arial"/>
              </a:rPr>
              <a:t>▸ </a:t>
            </a:r>
            <a:r>
              <a:rPr sz="1000" b="1">
                <a:solidFill>
                  <a:srgbClr val="1E293B"/>
                </a:solidFill>
                <a:latin typeface="Arial"/>
              </a:rPr>
              <a:t>Lỗi nét nối liền (15.1%): </a:t>
            </a:r>
            <a:r>
              <a:rPr sz="950">
                <a:solidFill>
                  <a:srgbClr val="475569"/>
                </a:solidFill>
                <a:latin typeface="Arial"/>
              </a:rPr>
              <a:t>Các phụ âm ghép (tr, th, nh, ch) viết lướt dính nét làm thiếu nhãn dự đoán CTC.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  <a:latin typeface="Arial"/>
              </a:rPr>
              <a:t>▸ </a:t>
            </a:r>
            <a:r>
              <a:rPr sz="1000" b="1">
                <a:solidFill>
                  <a:srgbClr val="1E293B"/>
                </a:solidFill>
                <a:latin typeface="Arial"/>
              </a:rPr>
              <a:t>Lỗi mực mờ &amp; đứt nét (12.4%): </a:t>
            </a:r>
            <a:r>
              <a:rPr sz="950">
                <a:solidFill>
                  <a:srgbClr val="475569"/>
                </a:solidFill>
                <a:latin typeface="Arial"/>
              </a:rPr>
              <a:t>Bút chì ấn quá nhẹ hoặc bút máy tắc mực gây mất dữ liệu điểm ảnh.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  <a:latin typeface="Arial"/>
              </a:rPr>
              <a:t>▸ </a:t>
            </a:r>
            <a:r>
              <a:rPr sz="1000" b="1">
                <a:solidFill>
                  <a:srgbClr val="1E293B"/>
                </a:solidFill>
                <a:latin typeface="Arial"/>
              </a:rPr>
              <a:t>Lỗi tẩy xóa, chèn chữ (9.8%): </a:t>
            </a:r>
            <a:r>
              <a:rPr sz="950">
                <a:solidFill>
                  <a:srgbClr val="475569"/>
                </a:solidFill>
                <a:latin typeface="Arial"/>
              </a:rPr>
              <a:t>Vết gôm chì hoặc gạch xóa đè lên chữ mới làm nhiễu bản đồ đặc trưng.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  <a:latin typeface="Arial"/>
              </a:rPr>
              <a:t>▸ </a:t>
            </a:r>
            <a:r>
              <a:rPr sz="1000" b="1">
                <a:solidFill>
                  <a:srgbClr val="1E293B"/>
                </a:solidFill>
                <a:latin typeface="Arial"/>
              </a:rPr>
              <a:t>Hồ sơ lỗi cá nhân hóa: </a:t>
            </a:r>
            <a:r>
              <a:rPr sz="950">
                <a:solidFill>
                  <a:srgbClr val="475569"/>
                </a:solidFill>
                <a:latin typeface="Arial"/>
              </a:rPr>
              <a:t>Tự động thống kê số lần học sinh viết sai chính tả theo từng tuần học.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  <a:latin typeface="Arial"/>
              </a:rPr>
              <a:t>▸ </a:t>
            </a:r>
            <a:r>
              <a:rPr sz="1000" b="1">
                <a:solidFill>
                  <a:srgbClr val="1E293B"/>
                </a:solidFill>
                <a:latin typeface="Arial"/>
              </a:rPr>
              <a:t>Cảnh báo thói quen viết: </a:t>
            </a:r>
            <a:r>
              <a:rPr sz="950">
                <a:solidFill>
                  <a:srgbClr val="475569"/>
                </a:solidFill>
                <a:latin typeface="Arial"/>
              </a:rPr>
              <a:t>Phát hiện học sinh viết nghiêng quá mức (&gt;30°) để giáo viên kịp thời uốn nắn.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  <a:latin typeface="Arial"/>
              </a:rPr>
              <a:t>▸ </a:t>
            </a:r>
            <a:r>
              <a:rPr sz="1000" b="1">
                <a:solidFill>
                  <a:srgbClr val="1E293B"/>
                </a:solidFill>
                <a:latin typeface="Arial"/>
              </a:rPr>
              <a:t>Giải phóng 70% thời gian: </a:t>
            </a:r>
            <a:r>
              <a:rPr sz="950">
                <a:solidFill>
                  <a:srgbClr val="475569"/>
                </a:solidFill>
                <a:latin typeface="Arial"/>
              </a:rPr>
              <a:t>Giáo viên chỉ cần duyệt các vị trí hệ thống gắn cờ nghi vấn (flagged highlights).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31000" y="2095500"/>
            <a:ext cx="2667000" cy="4191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32600" y="2220657"/>
            <a:ext cx="2463800" cy="3635885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lide12_pedag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6100" y="2284157"/>
            <a:ext cx="2336800" cy="350888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07200" y="5956300"/>
            <a:ext cx="2514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64748B"/>
                </a:solidFill>
                <a:latin typeface="Arial"/>
              </a:defRPr>
            </a:pPr>
            <a:r>
              <a:t>Giao diện duyệt bài giáo viên &amp; gắn cờ lỗi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900" b="1">
                <a:solidFill>
                  <a:srgbClr val="123B7A"/>
                </a:solidFill>
                <a:latin typeface="Arial"/>
              </a:defRPr>
            </a:pPr>
            <a:r>
              <a:t>Các Hạn Chế Hiện Tại &amp; Phân Tích Trường Hợp Ngoại Lệ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HANDAI — CAPSTONE DEFENSE  |  HẠN CHẾ HỆ THỐNG &amp; TRƯỜNG HỢP NGOẠI LỆ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8000" y="2095500"/>
            <a:ext cx="4191000" cy="4191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101600" bIns="101600"/>
          <a:lstStyle/>
          <a:p>
            <a:pPr algn="ctr">
              <a:spcAft>
                <a:spcPts val="500"/>
              </a:spcAft>
              <a:defRPr sz="1150" b="1">
                <a:solidFill>
                  <a:srgbClr val="123B7A"/>
                </a:solidFill>
                <a:latin typeface="Arial"/>
              </a:defRPr>
            </a:pPr>
            <a:r>
              <a:t>4 Hạn Chế Cốt Lõi Cần Hoàn Thiện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  <a:latin typeface="Arial"/>
              </a:rPr>
              <a:t>▸ </a:t>
            </a:r>
            <a:r>
              <a:rPr sz="1000" b="1">
                <a:solidFill>
                  <a:srgbClr val="1E293B"/>
                </a:solidFill>
                <a:latin typeface="Arial"/>
              </a:rPr>
              <a:t>Chữ thảo Lớp 4–5 quá cong: </a:t>
            </a:r>
            <a:r>
              <a:rPr sz="950">
                <a:solidFill>
                  <a:srgbClr val="475569"/>
                </a:solidFill>
                <a:latin typeface="Arial"/>
              </a:rPr>
              <a:t>Nét vòng lặp (loops) dài cắt ngang qua dòng trên và dưới khiến HPP phân đoạn lẹm nét; CER phân khúc này là 7.8% (cao hơn trung bình 5.0%).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  <a:latin typeface="Arial"/>
              </a:rPr>
              <a:t>▸ </a:t>
            </a:r>
            <a:r>
              <a:rPr sz="1000" b="1">
                <a:solidFill>
                  <a:srgbClr val="1E293B"/>
                </a:solidFill>
                <a:latin typeface="Arial"/>
              </a:rPr>
              <a:t>Bút chì mờ &amp; Giấy nhăn bẩn: </a:t>
            </a:r>
            <a:r>
              <a:rPr sz="950">
                <a:solidFill>
                  <a:srgbClr val="475569"/>
                </a:solidFill>
                <a:latin typeface="Arial"/>
              </a:rPr>
              <a:t>Nét chì 2B mờ nhạt trên nền giấy ngả vàng dễ bị ngưỡng nhị phân Otsu khử mất nét thanh mảnh, gây thiếu hụt đặc trưng đầu vào.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  <a:latin typeface="Arial"/>
              </a:rPr>
              <a:t>▸ </a:t>
            </a:r>
            <a:r>
              <a:rPr sz="1000" b="1">
                <a:solidFill>
                  <a:srgbClr val="1E293B"/>
                </a:solidFill>
                <a:latin typeface="Arial"/>
              </a:rPr>
              <a:t>Phụ thuộc độ trễ mạng Cloud LLM: </a:t>
            </a:r>
            <a:r>
              <a:rPr sz="950">
                <a:solidFill>
                  <a:srgbClr val="475569"/>
                </a:solidFill>
                <a:latin typeface="Arial"/>
              </a:rPr>
              <a:t>Trong điều kiện mạng yếu, thời gian phản hồi tăng lên 1.4s – 2.0s/dòng; hệ thống phải tự động kích hoạt Fallback Heuristic.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  <a:latin typeface="Arial"/>
              </a:rPr>
              <a:t>▸ </a:t>
            </a:r>
            <a:r>
              <a:rPr sz="1000" b="1">
                <a:solidFill>
                  <a:srgbClr val="1E293B"/>
                </a:solidFill>
                <a:latin typeface="Arial"/>
              </a:rPr>
              <a:t>Ký tự ngoài phạm vi (Out-of-Scope): </a:t>
            </a:r>
            <a:r>
              <a:rPr sz="950">
                <a:solidFill>
                  <a:srgbClr val="475569"/>
                </a:solidFill>
                <a:latin typeface="Arial"/>
              </a:rPr>
              <a:t>HandAI tối ưu cho chữ tiếng Việt và toán dòng đơn; chưa hỗ trợ biểu thức nhiều tầng (căn bậc hai lồng, ma trận, hình học).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53000" y="2095500"/>
            <a:ext cx="4445000" cy="4191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lide13_limitation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4600" y="2454994"/>
            <a:ext cx="4241800" cy="316721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0" y="5956300"/>
            <a:ext cx="4292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64748B"/>
                </a:solidFill>
                <a:latin typeface="Arial"/>
              </a:defRPr>
            </a:pPr>
            <a:r>
              <a:t>Phân tích trực quan các trường hợp biên và giới hạn thuật toán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900" b="1">
                <a:solidFill>
                  <a:srgbClr val="123B7A"/>
                </a:solidFill>
                <a:latin typeface="Arial"/>
              </a:defRPr>
            </a:pPr>
            <a:r>
              <a:t>Tổng Kết Dự Án &amp; Lộ Trình Phát Triển Chiến Lược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13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HANDAI — CAPSTONE DEFENSE  |  TỔNG KẾT &amp; ĐỊNH HƯỚNG PHÁT TRIỂN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8000" y="2095500"/>
            <a:ext cx="5969000" cy="4191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101600" bIns="101600"/>
          <a:lstStyle/>
          <a:p>
            <a:pPr algn="ctr">
              <a:spcAft>
                <a:spcPts val="500"/>
              </a:spcAft>
              <a:defRPr sz="1150" b="1">
                <a:solidFill>
                  <a:srgbClr val="123B7A"/>
                </a:solidFill>
                <a:latin typeface="Arial"/>
              </a:defRPr>
            </a:pPr>
            <a:r>
              <a:t>Thành Tựu Dự Án &amp; Lộ Trình Phát Triển 2027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  <a:latin typeface="Arial"/>
              </a:rPr>
              <a:t>▸ </a:t>
            </a:r>
            <a:r>
              <a:rPr sz="1000" b="1">
                <a:solidFill>
                  <a:srgbClr val="1E293B"/>
                </a:solidFill>
                <a:latin typeface="Arial"/>
              </a:rPr>
              <a:t>Giải pháp hoàn chỉnh: </a:t>
            </a:r>
            <a:r>
              <a:rPr sz="950">
                <a:solidFill>
                  <a:srgbClr val="475569"/>
                </a:solidFill>
                <a:latin typeface="Arial"/>
              </a:rPr>
              <a:t>Xây dựng pipeline nhận diện chữ viết tay học sinh tiểu học end-to-end, giải quyết triệt để bài toán dấu thanh tiếng Việt.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  <a:latin typeface="Arial"/>
              </a:rPr>
              <a:t>▸ </a:t>
            </a:r>
            <a:r>
              <a:rPr sz="1000" b="1">
                <a:solidFill>
                  <a:srgbClr val="1E293B"/>
                </a:solidFill>
                <a:latin typeface="Arial"/>
              </a:rPr>
              <a:t>Hiệu năng xuất sắc: </a:t>
            </a:r>
            <a:r>
              <a:rPr sz="950">
                <a:solidFill>
                  <a:srgbClr val="475569"/>
                </a:solidFill>
                <a:latin typeface="Arial"/>
              </a:rPr>
              <a:t>Mô hình CRNN 5.96M tham số kết hợp Dual-LLM đạt 94.0% độ chính xác dòng, CER 5.0%, vượt xa các baseline thương mại.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  <a:latin typeface="Arial"/>
              </a:rPr>
              <a:t>▸ </a:t>
            </a:r>
            <a:r>
              <a:rPr sz="1000" b="1">
                <a:solidFill>
                  <a:srgbClr val="1E293B"/>
                </a:solidFill>
                <a:latin typeface="Arial"/>
              </a:rPr>
              <a:t>Nền tảng Big Data chuẩn hóa: </a:t>
            </a:r>
            <a:r>
              <a:rPr sz="950">
                <a:solidFill>
                  <a:srgbClr val="475569"/>
                </a:solidFill>
                <a:latin typeface="Arial"/>
              </a:rPr>
              <a:t>3 tầng phân tích dữ liệu lớn với thuật toán Levenshtein vi tích lũy và kiểm định độ tin cậy ECE đạt 0.042.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  <a:latin typeface="Arial"/>
              </a:rPr>
              <a:t>▸ </a:t>
            </a:r>
            <a:r>
              <a:rPr sz="1000" b="1">
                <a:solidFill>
                  <a:srgbClr val="1E293B"/>
                </a:solidFill>
                <a:latin typeface="Arial"/>
              </a:rPr>
              <a:t>Độ sẵn sàng bảo vệ 100%: </a:t>
            </a:r>
            <a:r>
              <a:rPr sz="950">
                <a:solidFill>
                  <a:srgbClr val="475569"/>
                </a:solidFill>
                <a:latin typeface="Arial"/>
              </a:rPr>
              <a:t>168 kiểm thử tự động vượt qua (100% pass rate); bộ 13 tài liệu chuyên sâu và 5 hồ sơ Capstone hoàn thiện.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  <a:latin typeface="Arial"/>
              </a:rPr>
              <a:t>▸ </a:t>
            </a:r>
            <a:r>
              <a:rPr sz="1000" b="1">
                <a:solidFill>
                  <a:srgbClr val="1E293B"/>
                </a:solidFill>
                <a:latin typeface="Arial"/>
              </a:rPr>
              <a:t>Phase A (Q1/2027): </a:t>
            </a:r>
            <a:r>
              <a:rPr sz="950">
                <a:solidFill>
                  <a:srgbClr val="475569"/>
                </a:solidFill>
                <a:latin typeface="Arial"/>
              </a:rPr>
              <a:t>Lượng tử hóa INT8 (&lt;6MB) cho Apple CoreML &amp; Android TFLite cho phép chạy 100% offline trên máy tính bảng.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  <a:latin typeface="Arial"/>
              </a:rPr>
              <a:t>▸ </a:t>
            </a:r>
            <a:r>
              <a:rPr sz="1000" b="1">
                <a:solidFill>
                  <a:srgbClr val="1E293B"/>
                </a:solidFill>
                <a:latin typeface="Arial"/>
              </a:rPr>
              <a:t>Phase B (Q2/2027): </a:t>
            </a:r>
            <a:r>
              <a:rPr sz="950">
                <a:solidFill>
                  <a:srgbClr val="475569"/>
                </a:solidFill>
                <a:latin typeface="Arial"/>
              </a:rPr>
              <a:t>Nâng cấp lên Vision Transformer (TrOCR) loại bỏ nút thắt BiLSTM, tối ưu cho chữ viết thảo dính nét.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  <a:latin typeface="Arial"/>
              </a:rPr>
              <a:t>▸ </a:t>
            </a:r>
            <a:r>
              <a:rPr sz="1000" b="1">
                <a:solidFill>
                  <a:srgbClr val="1E293B"/>
                </a:solidFill>
                <a:latin typeface="Arial"/>
              </a:rPr>
              <a:t>Phase C (Q3/2027): </a:t>
            </a:r>
            <a:r>
              <a:rPr sz="950">
                <a:solidFill>
                  <a:srgbClr val="475569"/>
                </a:solidFill>
                <a:latin typeface="Arial"/>
              </a:rPr>
              <a:t>Tích hợp Small Language Model tiếng Việt 1B tham số (SLM via llama.cpp) chạy trên máy, xóa bỏ phụ thuộc Cloud API.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31000" y="2095500"/>
            <a:ext cx="2667000" cy="4191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32600" y="2220657"/>
            <a:ext cx="2463800" cy="3635885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lide14_road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6100" y="2284157"/>
            <a:ext cx="2336800" cy="350888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07200" y="5956300"/>
            <a:ext cx="2514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64748B"/>
                </a:solidFill>
                <a:latin typeface="Arial"/>
              </a:defRPr>
            </a:pPr>
            <a:r>
              <a:t>Giao diện trung tâm ứng dụng di động HandAI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amsung">
      <a:majorFont>
        <a:latin typeface="Samsung Sharp Sans"/>
        <a:ea typeface="SamsungOneKorean 700"/>
        <a:cs typeface=""/>
      </a:majorFont>
      <a:minorFont>
        <a:latin typeface="SamsungOne 400"/>
        <a:ea typeface="SamsungOneKorean 400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4772</TotalTime>
  <Words>940</Words>
  <Application>Microsoft Office PowerPoint</Application>
  <PresentationFormat>Custom</PresentationFormat>
  <Paragraphs>163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9" baseType="lpstr">
      <vt:lpstr>Malgun Gothic</vt:lpstr>
      <vt:lpstr>Malgun Gothic</vt:lpstr>
      <vt:lpstr>Arial</vt:lpstr>
      <vt:lpstr>Courier New</vt:lpstr>
      <vt:lpstr>Samsung Sharp Sans Bold</vt:lpstr>
      <vt:lpstr>SamsungOne 400C</vt:lpstr>
      <vt:lpstr>SamsungOne 400</vt:lpstr>
      <vt:lpstr>Samsung Sharp Sans</vt:lpstr>
      <vt:lpstr>SamsungOne 400 (Body)</vt:lpstr>
      <vt:lpstr>Symbol</vt:lpstr>
      <vt:lpstr>Samsung Sharp Sans Medium</vt:lpstr>
      <vt:lpstr>Calibri</vt:lpstr>
      <vt:lpstr>Office Theme</vt:lpstr>
      <vt:lpstr>Primary School Student Handwriting Recognition Model</vt:lpstr>
      <vt:lpstr>PowerPoint Presentation</vt:lpstr>
      <vt:lpstr>1. Introduction</vt:lpstr>
      <vt:lpstr>1. Introduction</vt:lpstr>
      <vt:lpstr>1. Introduction</vt:lpstr>
      <vt:lpstr>1. Introduction</vt:lpstr>
      <vt:lpstr>2. Project Excution</vt:lpstr>
      <vt:lpstr>2. Project Excution</vt:lpstr>
      <vt:lpstr>2. Project Excution</vt:lpstr>
      <vt:lpstr>3. Results</vt:lpstr>
      <vt:lpstr>3. Results</vt:lpstr>
      <vt:lpstr>3. Results</vt:lpstr>
      <vt:lpstr>3. Results</vt:lpstr>
      <vt:lpstr>3. Results</vt:lpstr>
      <vt:lpstr>3. Results</vt:lpstr>
      <vt:lpstr>3. Results</vt:lpstr>
      <vt:lpstr>3. Results</vt:lpstr>
      <vt:lpstr>3. Results</vt:lpstr>
      <vt:lpstr>3. Results</vt:lpstr>
      <vt:lpstr>3. Results</vt:lpstr>
      <vt:lpstr>3. Results</vt:lpstr>
      <vt:lpstr>3. Results</vt:lpstr>
      <vt:lpstr>4. Projected Impact</vt:lpstr>
      <vt:lpstr>4. Projected Impact</vt:lpstr>
      <vt:lpstr>4. Projected Impact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Programming in Python</dc:title>
  <dc:creator>Soon Yong Chang</dc:creator>
  <cp:lastModifiedBy>Ngọc Trung</cp:lastModifiedBy>
  <cp:revision>2096</cp:revision>
  <dcterms:created xsi:type="dcterms:W3CDTF">2019-07-06T14:12:49Z</dcterms:created>
  <dcterms:modified xsi:type="dcterms:W3CDTF">2024-08-22T14:01:07Z</dcterms:modified>
</cp:coreProperties>
</file>